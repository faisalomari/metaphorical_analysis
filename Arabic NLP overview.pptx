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8" r:id="rId3"/>
    <p:sldId id="269" r:id="rId4"/>
    <p:sldId id="257" r:id="rId5"/>
    <p:sldId id="267" r:id="rId6"/>
    <p:sldId id="258" r:id="rId7"/>
    <p:sldId id="259" r:id="rId8"/>
    <p:sldId id="266" r:id="rId9"/>
    <p:sldId id="260" r:id="rId10"/>
    <p:sldId id="262" r:id="rId11"/>
    <p:sldId id="263" r:id="rId12"/>
    <p:sldId id="281" r:id="rId13"/>
    <p:sldId id="264" r:id="rId14"/>
    <p:sldId id="265" r:id="rId15"/>
    <p:sldId id="273" r:id="rId16"/>
    <p:sldId id="270" r:id="rId17"/>
    <p:sldId id="274" r:id="rId18"/>
    <p:sldId id="271" r:id="rId19"/>
    <p:sldId id="275" r:id="rId20"/>
    <p:sldId id="272" r:id="rId21"/>
    <p:sldId id="277" r:id="rId22"/>
    <p:sldId id="279" r:id="rId23"/>
    <p:sldId id="280" r:id="rId24"/>
    <p:sldId id="26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10/5/24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10/5/24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semanticscholar.org/paper/Introducing-the-Arabic-WordNet-project-Fellbaum-Alkhalifa/644f477ad832783edcd420db5311169f93565e0b" TargetMode="External"/><Relationship Id="rId3" Type="http://schemas.openxmlformats.org/officeDocument/2006/relationships/hyperlink" Target="https://www.repustate.com/blog/arabic-natural-language-processing/" TargetMode="External"/><Relationship Id="rId7" Type="http://schemas.openxmlformats.org/officeDocument/2006/relationships/hyperlink" Target="https://arxiv.org/abs/1906.01830" TargetMode="External"/><Relationship Id="rId2" Type="http://schemas.openxmlformats.org/officeDocument/2006/relationships/hyperlink" Target="https://www.researchgate.net/publication/321613332_Natural_Language_Processing_of_Semitic_Languages" TargetMode="External"/><Relationship Id="rId1" Type="http://schemas.openxmlformats.org/officeDocument/2006/relationships/slideLayout" Target="../slideLayouts/slideLayout2.xml"/><Relationship Id="rId6" Type="http://schemas.openxmlformats.org/officeDocument/2006/relationships/hyperlink" Target="https://arxiv.org/abs/2003.00104" TargetMode="External"/><Relationship Id="rId5" Type="http://schemas.openxmlformats.org/officeDocument/2006/relationships/hyperlink" Target="https://sites.google.com/nyu.edu/madar/" TargetMode="External"/><Relationship Id="rId4" Type="http://schemas.openxmlformats.org/officeDocument/2006/relationships/hyperlink" Target="https://scholar.google.com/citations?view_op=view_citation&amp;hl=en&amp;user=LFEmlnsAAAAJ&amp;sortby=pubdate&amp;citation_for_view=LFEmlnsAAAAJ:DJbcl8HfkQkC" TargetMode="External"/><Relationship Id="rId9" Type="http://schemas.openxmlformats.org/officeDocument/2006/relationships/hyperlink" Target="https://openai.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BF55-5492-CF05-260B-75A056AB1D39}"/>
              </a:ext>
            </a:extLst>
          </p:cNvPr>
          <p:cNvSpPr>
            <a:spLocks noGrp="1"/>
          </p:cNvSpPr>
          <p:nvPr>
            <p:ph type="ctrTitle"/>
          </p:nvPr>
        </p:nvSpPr>
        <p:spPr/>
        <p:txBody>
          <a:bodyPr/>
          <a:lstStyle/>
          <a:p>
            <a:r>
              <a:rPr lang="en-IL" dirty="0"/>
              <a:t>Arabic NLP Overview</a:t>
            </a:r>
          </a:p>
        </p:txBody>
      </p:sp>
      <p:sp>
        <p:nvSpPr>
          <p:cNvPr id="3" name="Subtitle 2">
            <a:extLst>
              <a:ext uri="{FF2B5EF4-FFF2-40B4-BE49-F238E27FC236}">
                <a16:creationId xmlns:a16="http://schemas.microsoft.com/office/drawing/2014/main" id="{3AADD07E-2312-6142-724E-225A81A3518B}"/>
              </a:ext>
            </a:extLst>
          </p:cNvPr>
          <p:cNvSpPr>
            <a:spLocks noGrp="1"/>
          </p:cNvSpPr>
          <p:nvPr>
            <p:ph type="subTitle" idx="1"/>
          </p:nvPr>
        </p:nvSpPr>
        <p:spPr/>
        <p:txBody>
          <a:bodyPr/>
          <a:lstStyle/>
          <a:p>
            <a:r>
              <a:rPr lang="en-IL" dirty="0"/>
              <a:t>Student: Faisal Omari</a:t>
            </a:r>
          </a:p>
          <a:p>
            <a:r>
              <a:rPr lang="en-IL" dirty="0"/>
              <a:t>Supervisor: Dr. Adir Solomon</a:t>
            </a:r>
          </a:p>
        </p:txBody>
      </p:sp>
    </p:spTree>
    <p:extLst>
      <p:ext uri="{BB962C8B-B14F-4D97-AF65-F5344CB8AC3E}">
        <p14:creationId xmlns:p14="http://schemas.microsoft.com/office/powerpoint/2010/main" val="542031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2B272-0717-82FD-C577-2BC6B0069FF7}"/>
              </a:ext>
            </a:extLst>
          </p:cNvPr>
          <p:cNvSpPr>
            <a:spLocks noGrp="1"/>
          </p:cNvSpPr>
          <p:nvPr>
            <p:ph type="title"/>
          </p:nvPr>
        </p:nvSpPr>
        <p:spPr/>
        <p:txBody>
          <a:bodyPr/>
          <a:lstStyle/>
          <a:p>
            <a:r>
              <a:rPr lang="en-IL" dirty="0"/>
              <a:t>Intro to Arabic</a:t>
            </a:r>
          </a:p>
        </p:txBody>
      </p:sp>
      <p:sp>
        <p:nvSpPr>
          <p:cNvPr id="3" name="Content Placeholder 2">
            <a:extLst>
              <a:ext uri="{FF2B5EF4-FFF2-40B4-BE49-F238E27FC236}">
                <a16:creationId xmlns:a16="http://schemas.microsoft.com/office/drawing/2014/main" id="{2DC88A2E-6991-10E1-C00A-C9223A95CD5C}"/>
              </a:ext>
            </a:extLst>
          </p:cNvPr>
          <p:cNvSpPr>
            <a:spLocks noGrp="1"/>
          </p:cNvSpPr>
          <p:nvPr>
            <p:ph idx="1"/>
          </p:nvPr>
        </p:nvSpPr>
        <p:spPr/>
        <p:txBody>
          <a:bodyPr>
            <a:normAutofit/>
          </a:bodyPr>
          <a:lstStyle/>
          <a:p>
            <a:r>
              <a:rPr lang="en-US" sz="2800" dirty="0"/>
              <a:t>The term “Arabic language” is often used to refer collectively to Modern Standard Arabic (MSA) and its dialects. MSA is the official language of the Arab World, a region of 22 countries. Arabic is also an official language of Chad, Eritrea and Israel. With a collective population of almost 300 million people, Arabic is the most commonly spoken Semitic language.</a:t>
            </a:r>
            <a:endParaRPr lang="en-IL" sz="2800" dirty="0"/>
          </a:p>
        </p:txBody>
      </p:sp>
    </p:spTree>
    <p:extLst>
      <p:ext uri="{BB962C8B-B14F-4D97-AF65-F5344CB8AC3E}">
        <p14:creationId xmlns:p14="http://schemas.microsoft.com/office/powerpoint/2010/main" val="3568202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7D51-4876-820B-68DB-9F5AD5124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F7728-5146-5AC7-360A-A22D4A33FAAC}"/>
              </a:ext>
            </a:extLst>
          </p:cNvPr>
          <p:cNvSpPr>
            <a:spLocks noGrp="1"/>
          </p:cNvSpPr>
          <p:nvPr>
            <p:ph type="title"/>
          </p:nvPr>
        </p:nvSpPr>
        <p:spPr/>
        <p:txBody>
          <a:bodyPr/>
          <a:lstStyle/>
          <a:p>
            <a:r>
              <a:rPr lang="en-IL" dirty="0"/>
              <a:t>Intro to Arabic</a:t>
            </a:r>
          </a:p>
        </p:txBody>
      </p:sp>
      <p:sp>
        <p:nvSpPr>
          <p:cNvPr id="3" name="Content Placeholder 2">
            <a:extLst>
              <a:ext uri="{FF2B5EF4-FFF2-40B4-BE49-F238E27FC236}">
                <a16:creationId xmlns:a16="http://schemas.microsoft.com/office/drawing/2014/main" id="{573C0DF1-20FD-FDF7-11C3-6BAE59D3E4C3}"/>
              </a:ext>
            </a:extLst>
          </p:cNvPr>
          <p:cNvSpPr>
            <a:spLocks noGrp="1"/>
          </p:cNvSpPr>
          <p:nvPr>
            <p:ph idx="1"/>
          </p:nvPr>
        </p:nvSpPr>
        <p:spPr/>
        <p:txBody>
          <a:bodyPr>
            <a:normAutofit/>
          </a:bodyPr>
          <a:lstStyle/>
          <a:p>
            <a:r>
              <a:rPr lang="en-US" sz="2800" dirty="0"/>
              <a:t>Arabic is written using the Arabic script, a right-to-left alphabet also used to write many languages around the world which are not related to Arabic such as Persian, Kurdish, Urdu and Pashto. Arabic dialects are by default written in Arabic script although there are no standard dialectal spelling systems.</a:t>
            </a:r>
            <a:endParaRPr lang="en-IL" sz="2800" dirty="0"/>
          </a:p>
        </p:txBody>
      </p:sp>
    </p:spTree>
    <p:extLst>
      <p:ext uri="{BB962C8B-B14F-4D97-AF65-F5344CB8AC3E}">
        <p14:creationId xmlns:p14="http://schemas.microsoft.com/office/powerpoint/2010/main" val="2092862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7774-6642-467E-5E78-485073CAA2BC}"/>
              </a:ext>
            </a:extLst>
          </p:cNvPr>
          <p:cNvSpPr>
            <a:spLocks noGrp="1"/>
          </p:cNvSpPr>
          <p:nvPr>
            <p:ph type="title"/>
          </p:nvPr>
        </p:nvSpPr>
        <p:spPr/>
        <p:txBody>
          <a:bodyPr/>
          <a:lstStyle/>
          <a:p>
            <a:r>
              <a:rPr lang="en-IL" dirty="0"/>
              <a:t>Arabic Natural Language Processing</a:t>
            </a:r>
          </a:p>
        </p:txBody>
      </p:sp>
      <p:sp>
        <p:nvSpPr>
          <p:cNvPr id="3" name="Content Placeholder 2">
            <a:extLst>
              <a:ext uri="{FF2B5EF4-FFF2-40B4-BE49-F238E27FC236}">
                <a16:creationId xmlns:a16="http://schemas.microsoft.com/office/drawing/2014/main" id="{5B614A37-3DD7-0EB6-F073-A1756C24251A}"/>
              </a:ext>
            </a:extLst>
          </p:cNvPr>
          <p:cNvSpPr>
            <a:spLocks noGrp="1"/>
          </p:cNvSpPr>
          <p:nvPr>
            <p:ph idx="1"/>
          </p:nvPr>
        </p:nvSpPr>
        <p:spPr/>
        <p:txBody>
          <a:bodyPr>
            <a:normAutofit fontScale="92500"/>
          </a:bodyPr>
          <a:lstStyle/>
          <a:p>
            <a:r>
              <a:rPr lang="en-US" sz="3200" dirty="0"/>
              <a:t>Arabic natural language processing (NLP) is an advanced application of AI and machine learning used to understand Arabic dialects.</a:t>
            </a:r>
            <a:endParaRPr lang="ar-SA" sz="3200" dirty="0"/>
          </a:p>
          <a:p>
            <a:r>
              <a:rPr lang="en-US" sz="3200" dirty="0"/>
              <a:t>In this overview we will point out to the main challenges in using NLP with Arabic language, in addition to overviewing of the newest articles and improvements in this field.</a:t>
            </a:r>
          </a:p>
        </p:txBody>
      </p:sp>
    </p:spTree>
    <p:extLst>
      <p:ext uri="{BB962C8B-B14F-4D97-AF65-F5344CB8AC3E}">
        <p14:creationId xmlns:p14="http://schemas.microsoft.com/office/powerpoint/2010/main" val="1229579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DBD9B-86EC-E472-66FF-68960253F383}"/>
              </a:ext>
            </a:extLst>
          </p:cNvPr>
          <p:cNvSpPr>
            <a:spLocks noGrp="1"/>
          </p:cNvSpPr>
          <p:nvPr>
            <p:ph type="title"/>
          </p:nvPr>
        </p:nvSpPr>
        <p:spPr/>
        <p:txBody>
          <a:bodyPr/>
          <a:lstStyle/>
          <a:p>
            <a:r>
              <a:rPr lang="en-IL" dirty="0"/>
              <a:t>Semitic Languages</a:t>
            </a:r>
          </a:p>
        </p:txBody>
      </p:sp>
      <p:sp>
        <p:nvSpPr>
          <p:cNvPr id="3" name="Content Placeholder 2">
            <a:extLst>
              <a:ext uri="{FF2B5EF4-FFF2-40B4-BE49-F238E27FC236}">
                <a16:creationId xmlns:a16="http://schemas.microsoft.com/office/drawing/2014/main" id="{FCF552C5-EC3B-2CAE-47D5-BAF3956FACFE}"/>
              </a:ext>
            </a:extLst>
          </p:cNvPr>
          <p:cNvSpPr>
            <a:spLocks noGrp="1"/>
          </p:cNvSpPr>
          <p:nvPr>
            <p:ph idx="1"/>
          </p:nvPr>
        </p:nvSpPr>
        <p:spPr/>
        <p:txBody>
          <a:bodyPr/>
          <a:lstStyle/>
          <a:p>
            <a:r>
              <a:rPr lang="en-US" dirty="0"/>
              <a:t>Semitic languages, as stated in Wikipedia, are spoken by more than 270 million people. The most widely spoken Semitic languages today are Arabic (206 million native speakers), Amharic (27 million), Hebrew (7 million), Tigrinya (6.7 million), Syriac (1 million), and Maltese (419 thousand). NLP research applied to Semitic languages has been the focus of attention of many researchers for more than a decade, and several technical solutions have been proposed, especially Arabic NLP where we find a very large amount of accomplished research.</a:t>
            </a:r>
            <a:endParaRPr lang="en-IL" dirty="0"/>
          </a:p>
        </p:txBody>
      </p:sp>
    </p:spTree>
    <p:extLst>
      <p:ext uri="{BB962C8B-B14F-4D97-AF65-F5344CB8AC3E}">
        <p14:creationId xmlns:p14="http://schemas.microsoft.com/office/powerpoint/2010/main" val="1588265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498F8-CECA-7A3B-EECA-B4592EA40B8F}"/>
              </a:ext>
            </a:extLst>
          </p:cNvPr>
          <p:cNvSpPr>
            <a:spLocks noGrp="1"/>
          </p:cNvSpPr>
          <p:nvPr>
            <p:ph type="title"/>
          </p:nvPr>
        </p:nvSpPr>
        <p:spPr/>
        <p:txBody>
          <a:bodyPr/>
          <a:lstStyle/>
          <a:p>
            <a:r>
              <a:rPr lang="en-IL" dirty="0"/>
              <a:t>Challenges</a:t>
            </a:r>
          </a:p>
        </p:txBody>
      </p:sp>
      <p:sp>
        <p:nvSpPr>
          <p:cNvPr id="3" name="Content Placeholder 2">
            <a:extLst>
              <a:ext uri="{FF2B5EF4-FFF2-40B4-BE49-F238E27FC236}">
                <a16:creationId xmlns:a16="http://schemas.microsoft.com/office/drawing/2014/main" id="{08A102FF-57C7-F291-92A6-7CB3343047F3}"/>
              </a:ext>
            </a:extLst>
          </p:cNvPr>
          <p:cNvSpPr>
            <a:spLocks noGrp="1"/>
          </p:cNvSpPr>
          <p:nvPr>
            <p:ph idx="1"/>
          </p:nvPr>
        </p:nvSpPr>
        <p:spPr/>
        <p:txBody>
          <a:bodyPr>
            <a:normAutofit lnSpcReduction="10000"/>
          </a:bodyPr>
          <a:lstStyle/>
          <a:p>
            <a:r>
              <a:rPr lang="en-US" sz="2800" dirty="0"/>
              <a:t>Arabic is a very complex language, with many dialects. Arabic morphology has two fundamentals: derivational morphology, (word formation) and inflectional morphology (how words interact with the syntax). Morphological features have integrated dependencies on several linguistic factors like affixes, root-based structures, and vowels. Additionally, Arabic’s high ability for new word formations with rich semantic meanings - all pose quite a challenge for Arabic natural language processing.</a:t>
            </a:r>
            <a:endParaRPr lang="en-IL" sz="2800" dirty="0"/>
          </a:p>
          <a:p>
            <a:endParaRPr lang="en-IL" sz="2800" dirty="0"/>
          </a:p>
        </p:txBody>
      </p:sp>
    </p:spTree>
    <p:extLst>
      <p:ext uri="{BB962C8B-B14F-4D97-AF65-F5344CB8AC3E}">
        <p14:creationId xmlns:p14="http://schemas.microsoft.com/office/powerpoint/2010/main" val="1039148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B30E-FF8C-7E09-D3A8-1B1FED168D8C}"/>
              </a:ext>
            </a:extLst>
          </p:cNvPr>
          <p:cNvSpPr>
            <a:spLocks noGrp="1"/>
          </p:cNvSpPr>
          <p:nvPr>
            <p:ph type="title"/>
          </p:nvPr>
        </p:nvSpPr>
        <p:spPr/>
        <p:txBody>
          <a:bodyPr/>
          <a:lstStyle/>
          <a:p>
            <a:r>
              <a:rPr lang="en-IL" dirty="0"/>
              <a:t>Example 1</a:t>
            </a:r>
          </a:p>
        </p:txBody>
      </p:sp>
      <p:sp>
        <p:nvSpPr>
          <p:cNvPr id="3" name="Content Placeholder 2">
            <a:extLst>
              <a:ext uri="{FF2B5EF4-FFF2-40B4-BE49-F238E27FC236}">
                <a16:creationId xmlns:a16="http://schemas.microsoft.com/office/drawing/2014/main" id="{34FBA11E-30BA-D823-5374-71D64C0EFE32}"/>
              </a:ext>
            </a:extLst>
          </p:cNvPr>
          <p:cNvSpPr>
            <a:spLocks noGrp="1"/>
          </p:cNvSpPr>
          <p:nvPr>
            <p:ph idx="1"/>
          </p:nvPr>
        </p:nvSpPr>
        <p:spPr/>
        <p:txBody>
          <a:bodyPr/>
          <a:lstStyle/>
          <a:p>
            <a:r>
              <a:rPr lang="en-US" sz="2800" dirty="0"/>
              <a:t>To explain this complexity, let’s look at an example. In Arabic, derivational morphology is the principal factor behind how a word is transformed from its root. For instance, from the root word </a:t>
            </a:r>
            <a:r>
              <a:rPr lang="ar-SA" sz="2800" dirty="0"/>
              <a:t>"اقرأ"</a:t>
            </a:r>
            <a:r>
              <a:rPr lang="en-US" sz="2800" dirty="0"/>
              <a:t> (read), different phrases such as </a:t>
            </a:r>
            <a:r>
              <a:rPr lang="ar-SA" sz="2800" dirty="0"/>
              <a:t>"هو يقرأ"</a:t>
            </a:r>
            <a:r>
              <a:rPr lang="en-US" sz="2800" dirty="0"/>
              <a:t> (he is reading), or </a:t>
            </a:r>
            <a:r>
              <a:rPr lang="ar-SA" sz="2800" dirty="0"/>
              <a:t>"هي تقرأ"</a:t>
            </a:r>
            <a:r>
              <a:rPr lang="en-US" sz="2800" dirty="0"/>
              <a:t> (she is reading) can be formed. </a:t>
            </a:r>
          </a:p>
          <a:p>
            <a:r>
              <a:rPr lang="en-US" sz="2800" dirty="0"/>
              <a:t>Semantically related words generated from this root can also be diverse, such as </a:t>
            </a:r>
            <a:r>
              <a:rPr lang="ar-SA" sz="2800" dirty="0"/>
              <a:t>"مكتبة"</a:t>
            </a:r>
            <a:r>
              <a:rPr lang="en-US" sz="2800" dirty="0"/>
              <a:t> (library) or </a:t>
            </a:r>
            <a:r>
              <a:rPr lang="ar-SA" sz="2800" dirty="0"/>
              <a:t>"جريدة"</a:t>
            </a:r>
            <a:r>
              <a:rPr lang="en-US" sz="2800" dirty="0"/>
              <a:t> (newspaper)</a:t>
            </a:r>
            <a:endParaRPr lang="en-IL" sz="2800" dirty="0"/>
          </a:p>
        </p:txBody>
      </p:sp>
    </p:spTree>
    <p:extLst>
      <p:ext uri="{BB962C8B-B14F-4D97-AF65-F5344CB8AC3E}">
        <p14:creationId xmlns:p14="http://schemas.microsoft.com/office/powerpoint/2010/main" val="801421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B3132-5A57-63D2-B18F-8B89AF06A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242FA-36A5-CD5F-3C11-DDB1F68C2E04}"/>
              </a:ext>
            </a:extLst>
          </p:cNvPr>
          <p:cNvSpPr>
            <a:spLocks noGrp="1"/>
          </p:cNvSpPr>
          <p:nvPr>
            <p:ph type="title"/>
          </p:nvPr>
        </p:nvSpPr>
        <p:spPr/>
        <p:txBody>
          <a:bodyPr/>
          <a:lstStyle/>
          <a:p>
            <a:r>
              <a:rPr lang="en-IL" dirty="0"/>
              <a:t>Example 2</a:t>
            </a:r>
          </a:p>
        </p:txBody>
      </p:sp>
      <p:sp>
        <p:nvSpPr>
          <p:cNvPr id="3" name="Content Placeholder 2">
            <a:extLst>
              <a:ext uri="{FF2B5EF4-FFF2-40B4-BE49-F238E27FC236}">
                <a16:creationId xmlns:a16="http://schemas.microsoft.com/office/drawing/2014/main" id="{96AC4CE9-6399-3197-FAFD-68BC3B0BE80A}"/>
              </a:ext>
            </a:extLst>
          </p:cNvPr>
          <p:cNvSpPr>
            <a:spLocks noGrp="1"/>
          </p:cNvSpPr>
          <p:nvPr>
            <p:ph idx="1"/>
          </p:nvPr>
        </p:nvSpPr>
        <p:spPr/>
        <p:txBody>
          <a:bodyPr>
            <a:normAutofit/>
          </a:bodyPr>
          <a:lstStyle/>
          <a:p>
            <a:r>
              <a:rPr lang="en-US" sz="3200" dirty="0"/>
              <a:t>The root meaning “write” has the form k - t - b. From this root, words are formed by filling in the vowels, e.g., </a:t>
            </a:r>
            <a:r>
              <a:rPr lang="en-US" sz="3200" dirty="0" err="1"/>
              <a:t>kitAb</a:t>
            </a:r>
            <a:r>
              <a:rPr lang="en-US" sz="3200" dirty="0"/>
              <a:t> “book,” </a:t>
            </a:r>
            <a:r>
              <a:rPr lang="en-US" sz="3200" dirty="0" err="1"/>
              <a:t>kutub</a:t>
            </a:r>
            <a:r>
              <a:rPr lang="en-US" sz="3200" dirty="0"/>
              <a:t> “books,” </a:t>
            </a:r>
            <a:r>
              <a:rPr lang="en-US" sz="3200" dirty="0" err="1"/>
              <a:t>kAtib</a:t>
            </a:r>
            <a:r>
              <a:rPr lang="en-US" sz="3200" dirty="0"/>
              <a:t> “writer,” </a:t>
            </a:r>
            <a:r>
              <a:rPr lang="en-US" sz="3200" dirty="0" err="1"/>
              <a:t>kuttAb</a:t>
            </a:r>
            <a:r>
              <a:rPr lang="en-US" sz="3200" dirty="0"/>
              <a:t> “writers,” </a:t>
            </a:r>
            <a:r>
              <a:rPr lang="en-US" sz="3200" dirty="0" err="1"/>
              <a:t>kataba</a:t>
            </a:r>
            <a:r>
              <a:rPr lang="en-US" sz="3200" dirty="0"/>
              <a:t> “he wrote,” </a:t>
            </a:r>
            <a:r>
              <a:rPr lang="en-US" sz="3200" dirty="0" err="1"/>
              <a:t>yaktubu</a:t>
            </a:r>
            <a:r>
              <a:rPr lang="en-US" sz="3200" dirty="0"/>
              <a:t> “he writes,” etc. </a:t>
            </a:r>
            <a:endParaRPr lang="en-IL" sz="4000" dirty="0"/>
          </a:p>
        </p:txBody>
      </p:sp>
    </p:spTree>
    <p:extLst>
      <p:ext uri="{BB962C8B-B14F-4D97-AF65-F5344CB8AC3E}">
        <p14:creationId xmlns:p14="http://schemas.microsoft.com/office/powerpoint/2010/main" val="2467119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3EC7-A915-3599-7AE7-C14E974A79BB}"/>
              </a:ext>
            </a:extLst>
          </p:cNvPr>
          <p:cNvSpPr>
            <a:spLocks noGrp="1"/>
          </p:cNvSpPr>
          <p:nvPr>
            <p:ph type="title"/>
          </p:nvPr>
        </p:nvSpPr>
        <p:spPr/>
        <p:txBody>
          <a:bodyPr/>
          <a:lstStyle/>
          <a:p>
            <a:r>
              <a:rPr lang="en-IL" dirty="0"/>
              <a:t>Problems</a:t>
            </a:r>
          </a:p>
        </p:txBody>
      </p:sp>
      <p:sp>
        <p:nvSpPr>
          <p:cNvPr id="3" name="Content Placeholder 2">
            <a:extLst>
              <a:ext uri="{FF2B5EF4-FFF2-40B4-BE49-F238E27FC236}">
                <a16:creationId xmlns:a16="http://schemas.microsoft.com/office/drawing/2014/main" id="{40DD6B13-47C7-2366-DAF4-B461F7853B44}"/>
              </a:ext>
            </a:extLst>
          </p:cNvPr>
          <p:cNvSpPr>
            <a:spLocks noGrp="1"/>
          </p:cNvSpPr>
          <p:nvPr>
            <p:ph idx="1"/>
          </p:nvPr>
        </p:nvSpPr>
        <p:spPr/>
        <p:txBody>
          <a:bodyPr>
            <a:normAutofit/>
          </a:bodyPr>
          <a:lstStyle/>
          <a:p>
            <a:r>
              <a:rPr lang="en-US" sz="3200" dirty="0"/>
              <a:t>This richness in vocabulary and nuance is what makes Arabic a category IV language in parameters of complexity and difficulty to learn. This is also why a regular sentiment analysis model that uses translations cannot give accurate results for sentiment analysis of Arabic tweets, reviews, or news.</a:t>
            </a:r>
            <a:endParaRPr lang="en-IL" sz="3200" dirty="0"/>
          </a:p>
        </p:txBody>
      </p:sp>
    </p:spTree>
    <p:extLst>
      <p:ext uri="{BB962C8B-B14F-4D97-AF65-F5344CB8AC3E}">
        <p14:creationId xmlns:p14="http://schemas.microsoft.com/office/powerpoint/2010/main" val="3680049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3611-2946-F8AE-A657-C9339A3499D4}"/>
              </a:ext>
            </a:extLst>
          </p:cNvPr>
          <p:cNvSpPr>
            <a:spLocks noGrp="1"/>
          </p:cNvSpPr>
          <p:nvPr>
            <p:ph type="title"/>
          </p:nvPr>
        </p:nvSpPr>
        <p:spPr/>
        <p:txBody>
          <a:bodyPr/>
          <a:lstStyle/>
          <a:p>
            <a:r>
              <a:rPr lang="en-IL" dirty="0"/>
              <a:t>Problems</a:t>
            </a:r>
          </a:p>
        </p:txBody>
      </p:sp>
      <p:sp>
        <p:nvSpPr>
          <p:cNvPr id="3" name="Content Placeholder 2">
            <a:extLst>
              <a:ext uri="{FF2B5EF4-FFF2-40B4-BE49-F238E27FC236}">
                <a16:creationId xmlns:a16="http://schemas.microsoft.com/office/drawing/2014/main" id="{7090AE9B-9604-DD17-94A9-D616CC2EF289}"/>
              </a:ext>
            </a:extLst>
          </p:cNvPr>
          <p:cNvSpPr>
            <a:spLocks noGrp="1"/>
          </p:cNvSpPr>
          <p:nvPr>
            <p:ph idx="1"/>
          </p:nvPr>
        </p:nvSpPr>
        <p:spPr/>
        <p:txBody>
          <a:bodyPr>
            <a:normAutofit lnSpcReduction="10000"/>
          </a:bodyPr>
          <a:lstStyle/>
          <a:p>
            <a:r>
              <a:rPr lang="en-US" sz="2800" dirty="0"/>
              <a:t>In addition, Arabic is both morphologically rich and highly ambiguous. In Modern Standard Arabic (MSA), a complete part-of-speech tag set has over 300,000 tags (whereas English has about 50), and MSA words have 12 morphological analyses on average (English has 1.25 POS tags per word on average). The high ambiguity is primarily the result of Arabic orthography, which almost always omits the diacritics used to specify short vowels and consonantal doubling.</a:t>
            </a:r>
            <a:endParaRPr lang="en-IL" sz="2800" dirty="0"/>
          </a:p>
        </p:txBody>
      </p:sp>
    </p:spTree>
    <p:extLst>
      <p:ext uri="{BB962C8B-B14F-4D97-AF65-F5344CB8AC3E}">
        <p14:creationId xmlns:p14="http://schemas.microsoft.com/office/powerpoint/2010/main" val="3665102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E579E-76D0-B170-27A8-D0CADA82A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CB4C1-1BD3-E307-4710-668745FED61E}"/>
              </a:ext>
            </a:extLst>
          </p:cNvPr>
          <p:cNvSpPr>
            <a:spLocks noGrp="1"/>
          </p:cNvSpPr>
          <p:nvPr>
            <p:ph type="title"/>
          </p:nvPr>
        </p:nvSpPr>
        <p:spPr/>
        <p:txBody>
          <a:bodyPr/>
          <a:lstStyle/>
          <a:p>
            <a:r>
              <a:rPr lang="en-IL" dirty="0"/>
              <a:t>Problems</a:t>
            </a:r>
          </a:p>
        </p:txBody>
      </p:sp>
      <p:sp>
        <p:nvSpPr>
          <p:cNvPr id="3" name="Content Placeholder 2">
            <a:extLst>
              <a:ext uri="{FF2B5EF4-FFF2-40B4-BE49-F238E27FC236}">
                <a16:creationId xmlns:a16="http://schemas.microsoft.com/office/drawing/2014/main" id="{5782E8FF-5AB9-D4A3-F3F0-7774BECFB56C}"/>
              </a:ext>
            </a:extLst>
          </p:cNvPr>
          <p:cNvSpPr>
            <a:spLocks noGrp="1"/>
          </p:cNvSpPr>
          <p:nvPr>
            <p:ph idx="1"/>
          </p:nvPr>
        </p:nvSpPr>
        <p:spPr/>
        <p:txBody>
          <a:bodyPr>
            <a:normAutofit fontScale="92500" lnSpcReduction="10000"/>
          </a:bodyPr>
          <a:lstStyle/>
          <a:p>
            <a:r>
              <a:rPr lang="en-US" sz="2800" dirty="0"/>
              <a:t>Furthermore, Arabic has complex morpho-syntactic agreement rules and a lot of irregular forms: over half of Arabic plurals are irregular (“broken plurals”). </a:t>
            </a:r>
          </a:p>
          <a:p>
            <a:r>
              <a:rPr lang="en-US" sz="2800" dirty="0"/>
              <a:t>Finally, Arabic has a large number of dialectal variants that are as different from MSA as romance languages are different from Latin. MSA is the official form of Arabic, but it is no one’s mother tongue. The dialects, the true mother tongues, are primarily spoken, do not have written standards, and have very limited resources.</a:t>
            </a:r>
            <a:endParaRPr lang="en-IL" sz="2800" dirty="0"/>
          </a:p>
        </p:txBody>
      </p:sp>
    </p:spTree>
    <p:extLst>
      <p:ext uri="{BB962C8B-B14F-4D97-AF65-F5344CB8AC3E}">
        <p14:creationId xmlns:p14="http://schemas.microsoft.com/office/powerpoint/2010/main" val="1886621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3533-818D-09AE-9AF5-F059132B5158}"/>
              </a:ext>
            </a:extLst>
          </p:cNvPr>
          <p:cNvSpPr>
            <a:spLocks noGrp="1"/>
          </p:cNvSpPr>
          <p:nvPr>
            <p:ph type="title"/>
          </p:nvPr>
        </p:nvSpPr>
        <p:spPr/>
        <p:txBody>
          <a:bodyPr>
            <a:normAutofit/>
          </a:bodyPr>
          <a:lstStyle/>
          <a:p>
            <a:r>
              <a:rPr lang="en-IL" sz="6000" dirty="0"/>
              <a:t>Arabic NLP Projects</a:t>
            </a:r>
          </a:p>
        </p:txBody>
      </p:sp>
    </p:spTree>
    <p:extLst>
      <p:ext uri="{BB962C8B-B14F-4D97-AF65-F5344CB8AC3E}">
        <p14:creationId xmlns:p14="http://schemas.microsoft.com/office/powerpoint/2010/main" val="2417822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24CCC-EC74-1DDD-CB25-30982C3C770C}"/>
              </a:ext>
            </a:extLst>
          </p:cNvPr>
          <p:cNvSpPr>
            <a:spLocks noGrp="1"/>
          </p:cNvSpPr>
          <p:nvPr>
            <p:ph type="title"/>
          </p:nvPr>
        </p:nvSpPr>
        <p:spPr/>
        <p:txBody>
          <a:bodyPr>
            <a:noAutofit/>
          </a:bodyPr>
          <a:lstStyle/>
          <a:p>
            <a:r>
              <a:rPr lang="en-US" sz="3600" dirty="0"/>
              <a:t>Shared Lexical Items as Triggers of Code Switching</a:t>
            </a:r>
          </a:p>
        </p:txBody>
      </p:sp>
      <p:sp>
        <p:nvSpPr>
          <p:cNvPr id="3" name="Content Placeholder 2">
            <a:extLst>
              <a:ext uri="{FF2B5EF4-FFF2-40B4-BE49-F238E27FC236}">
                <a16:creationId xmlns:a16="http://schemas.microsoft.com/office/drawing/2014/main" id="{AA47CA04-2483-EE65-80E2-9105F46B9F6A}"/>
              </a:ext>
            </a:extLst>
          </p:cNvPr>
          <p:cNvSpPr>
            <a:spLocks noGrp="1"/>
          </p:cNvSpPr>
          <p:nvPr>
            <p:ph idx="1"/>
          </p:nvPr>
        </p:nvSpPr>
        <p:spPr/>
        <p:txBody>
          <a:bodyPr/>
          <a:lstStyle/>
          <a:p>
            <a:r>
              <a:rPr lang="en-US" b="1" dirty="0"/>
              <a:t>Shared Lexical Items as Triggers of Code Switching:</a:t>
            </a:r>
          </a:p>
          <a:p>
            <a:pPr lvl="1"/>
            <a:r>
              <a:rPr lang="en-US" dirty="0"/>
              <a:t>Authors: Shuly Wintner, </a:t>
            </a:r>
            <a:r>
              <a:rPr lang="en-US" dirty="0" err="1"/>
              <a:t>Safaa</a:t>
            </a:r>
            <a:r>
              <a:rPr lang="en-US" dirty="0"/>
              <a:t> </a:t>
            </a:r>
            <a:r>
              <a:rPr lang="en-US" dirty="0" err="1"/>
              <a:t>Shehadi</a:t>
            </a:r>
            <a:r>
              <a:rPr lang="en-US" dirty="0"/>
              <a:t>, </a:t>
            </a:r>
            <a:r>
              <a:rPr lang="en-US" dirty="0" err="1"/>
              <a:t>Yuli</a:t>
            </a:r>
            <a:r>
              <a:rPr lang="en-US" dirty="0"/>
              <a:t> </a:t>
            </a:r>
            <a:r>
              <a:rPr lang="en-US" dirty="0" err="1"/>
              <a:t>Zeira</a:t>
            </a:r>
            <a:r>
              <a:rPr lang="en-US" dirty="0"/>
              <a:t>, Doreen </a:t>
            </a:r>
            <a:r>
              <a:rPr lang="en-US" dirty="0" err="1"/>
              <a:t>Osmelak</a:t>
            </a:r>
            <a:r>
              <a:rPr lang="en-US" dirty="0"/>
              <a:t>, Yuval Nov</a:t>
            </a:r>
          </a:p>
          <a:p>
            <a:pPr lvl="1"/>
            <a:r>
              <a:rPr lang="en-US" dirty="0"/>
              <a:t>Publication Date: December 2023</a:t>
            </a:r>
          </a:p>
          <a:p>
            <a:pPr lvl="1"/>
            <a:r>
              <a:rPr lang="en-US" dirty="0"/>
              <a:t>This study explores the phenomenon of code-switching, where bilingual speakers alternate between two languages during conversation. The paper focuses on the triggering hypothesis, which posits that certain words—especially cognates and proper names—act as triggers for code-switching when they occur near a switch point between the two languages. Using five large datasets across three language pairs, the researchers provide robust evidence supporting this hypothesis.</a:t>
            </a:r>
            <a:endParaRPr lang="en-IL" dirty="0"/>
          </a:p>
        </p:txBody>
      </p:sp>
    </p:spTree>
    <p:extLst>
      <p:ext uri="{BB962C8B-B14F-4D97-AF65-F5344CB8AC3E}">
        <p14:creationId xmlns:p14="http://schemas.microsoft.com/office/powerpoint/2010/main" val="436042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2A51-4B55-CDE3-4F99-EA31639232AD}"/>
              </a:ext>
            </a:extLst>
          </p:cNvPr>
          <p:cNvSpPr>
            <a:spLocks noGrp="1"/>
          </p:cNvSpPr>
          <p:nvPr>
            <p:ph type="title"/>
          </p:nvPr>
        </p:nvSpPr>
        <p:spPr/>
        <p:txBody>
          <a:bodyPr/>
          <a:lstStyle/>
          <a:p>
            <a:r>
              <a:rPr lang="en-IL" dirty="0"/>
              <a:t>Tarteel</a:t>
            </a:r>
          </a:p>
        </p:txBody>
      </p:sp>
      <p:sp>
        <p:nvSpPr>
          <p:cNvPr id="3" name="Content Placeholder 2">
            <a:extLst>
              <a:ext uri="{FF2B5EF4-FFF2-40B4-BE49-F238E27FC236}">
                <a16:creationId xmlns:a16="http://schemas.microsoft.com/office/drawing/2014/main" id="{B1F4B93A-B375-8841-38B8-F808964795B3}"/>
              </a:ext>
            </a:extLst>
          </p:cNvPr>
          <p:cNvSpPr>
            <a:spLocks noGrp="1"/>
          </p:cNvSpPr>
          <p:nvPr>
            <p:ph idx="1"/>
          </p:nvPr>
        </p:nvSpPr>
        <p:spPr/>
        <p:txBody>
          <a:bodyPr/>
          <a:lstStyle/>
          <a:p>
            <a:r>
              <a:rPr lang="en-US" b="1" dirty="0" err="1"/>
              <a:t>Tarteel</a:t>
            </a:r>
            <a:r>
              <a:rPr lang="en-US" b="1" dirty="0"/>
              <a:t>: AI-Powered Quranic Recitation and Memorization Assistant:</a:t>
            </a:r>
          </a:p>
          <a:p>
            <a:pPr lvl="1"/>
            <a:r>
              <a:rPr lang="en-US" dirty="0"/>
              <a:t>Launch date: 2019</a:t>
            </a:r>
          </a:p>
          <a:p>
            <a:pPr lvl="1"/>
            <a:r>
              <a:rPr lang="en-US" dirty="0" err="1"/>
              <a:t>Tarteel</a:t>
            </a:r>
            <a:r>
              <a:rPr lang="en-US" dirty="0"/>
              <a:t> is an AI-driven application designed to assist users in Quranic recitation and memorization by providing real-time feedback and support. Using advanced speech recognition technology specifically trained on Quranic recitation, </a:t>
            </a:r>
            <a:r>
              <a:rPr lang="en-US" dirty="0" err="1"/>
              <a:t>Tarteel</a:t>
            </a:r>
            <a:r>
              <a:rPr lang="en-US" dirty="0"/>
              <a:t> helps users improve their recitation accuracy by detecting mistakes, providing feedback, and guiding users in memorizing verses from the Quran.</a:t>
            </a:r>
          </a:p>
          <a:p>
            <a:pPr lvl="1"/>
            <a:endParaRPr lang="en-IL" dirty="0"/>
          </a:p>
        </p:txBody>
      </p:sp>
    </p:spTree>
    <p:extLst>
      <p:ext uri="{BB962C8B-B14F-4D97-AF65-F5344CB8AC3E}">
        <p14:creationId xmlns:p14="http://schemas.microsoft.com/office/powerpoint/2010/main" val="1962299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50BCB-E455-42B9-044E-D98A8DB1B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61B1E-8070-6C2B-2261-E5E52700A275}"/>
              </a:ext>
            </a:extLst>
          </p:cNvPr>
          <p:cNvSpPr>
            <a:spLocks noGrp="1"/>
          </p:cNvSpPr>
          <p:nvPr>
            <p:ph type="title"/>
          </p:nvPr>
        </p:nvSpPr>
        <p:spPr/>
        <p:txBody>
          <a:bodyPr/>
          <a:lstStyle/>
          <a:p>
            <a:r>
              <a:rPr lang="en-IL" dirty="0"/>
              <a:t>Tarteel</a:t>
            </a:r>
          </a:p>
        </p:txBody>
      </p:sp>
      <p:sp>
        <p:nvSpPr>
          <p:cNvPr id="3" name="Content Placeholder 2">
            <a:extLst>
              <a:ext uri="{FF2B5EF4-FFF2-40B4-BE49-F238E27FC236}">
                <a16:creationId xmlns:a16="http://schemas.microsoft.com/office/drawing/2014/main" id="{A4A1FC03-7D9A-6D2A-36A7-B96049F5CEC2}"/>
              </a:ext>
            </a:extLst>
          </p:cNvPr>
          <p:cNvSpPr>
            <a:spLocks noGrp="1"/>
          </p:cNvSpPr>
          <p:nvPr>
            <p:ph idx="1"/>
          </p:nvPr>
        </p:nvSpPr>
        <p:spPr/>
        <p:txBody>
          <a:bodyPr>
            <a:normAutofit/>
          </a:bodyPr>
          <a:lstStyle/>
          <a:p>
            <a:r>
              <a:rPr lang="en-US" sz="2000" dirty="0" err="1"/>
              <a:t>Tarteel’s</a:t>
            </a:r>
            <a:r>
              <a:rPr lang="en-US" sz="2000" dirty="0"/>
              <a:t> core features include:</a:t>
            </a:r>
          </a:p>
          <a:p>
            <a:pPr lvl="1">
              <a:buFont typeface="Arial" panose="020B0604020202020204" pitchFamily="34" charset="0"/>
              <a:buChar char="•"/>
            </a:pPr>
            <a:r>
              <a:rPr lang="en-US" sz="1600" dirty="0"/>
              <a:t>Voice Input: Users can recite verses aloud, and the app listens to their recitation to detect errors in pronunciation, missing words, or misaligned verses.</a:t>
            </a:r>
          </a:p>
          <a:p>
            <a:pPr lvl="1">
              <a:buFont typeface="Arial" panose="020B0604020202020204" pitchFamily="34" charset="0"/>
              <a:buChar char="•"/>
            </a:pPr>
            <a:r>
              <a:rPr lang="en-US" sz="1600" dirty="0"/>
              <a:t>Real-time Feedback: The app instantly highlights areas where the recitation doesn't match the original Quranic text, helping users correct themselves as they go.</a:t>
            </a:r>
          </a:p>
          <a:p>
            <a:pPr lvl="1">
              <a:buFont typeface="Arial" panose="020B0604020202020204" pitchFamily="34" charset="0"/>
              <a:buChar char="•"/>
            </a:pPr>
            <a:r>
              <a:rPr lang="en-US" sz="1600" dirty="0"/>
              <a:t>Memorization Tools: </a:t>
            </a:r>
            <a:r>
              <a:rPr lang="en-US" sz="1600" dirty="0" err="1"/>
              <a:t>Tarteel</a:t>
            </a:r>
            <a:r>
              <a:rPr lang="en-US" sz="1600" dirty="0"/>
              <a:t> offers memorization modes, where users can challenge themselves by reciting verses from memory. The app can hide the text or give partial visibility to assist users at different levels of memorization.</a:t>
            </a:r>
          </a:p>
          <a:p>
            <a:pPr lvl="1">
              <a:buFont typeface="Arial" panose="020B0604020202020204" pitchFamily="34" charset="0"/>
              <a:buChar char="•"/>
            </a:pPr>
            <a:r>
              <a:rPr lang="en-US" sz="1600" dirty="0" err="1"/>
              <a:t>Tajweed</a:t>
            </a:r>
            <a:r>
              <a:rPr lang="en-US" sz="1600" dirty="0"/>
              <a:t> Guidance: For more advanced users, </a:t>
            </a:r>
            <a:r>
              <a:rPr lang="en-US" sz="1600" dirty="0" err="1"/>
              <a:t>Tarteel</a:t>
            </a:r>
            <a:r>
              <a:rPr lang="en-US" sz="1600" dirty="0"/>
              <a:t> can also provide feedback on the rules of </a:t>
            </a:r>
            <a:r>
              <a:rPr lang="en-US" sz="1600" dirty="0" err="1"/>
              <a:t>Tajweed</a:t>
            </a:r>
            <a:r>
              <a:rPr lang="en-US" sz="1600" dirty="0"/>
              <a:t> (the art of Quranic pronunciation), ensuring that users recite the Quran with correct phonetics.</a:t>
            </a:r>
          </a:p>
        </p:txBody>
      </p:sp>
    </p:spTree>
    <p:extLst>
      <p:ext uri="{BB962C8B-B14F-4D97-AF65-F5344CB8AC3E}">
        <p14:creationId xmlns:p14="http://schemas.microsoft.com/office/powerpoint/2010/main" val="219412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AB11-D501-E0C7-A32F-EBA358D70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B6014-5E29-CBD5-5B68-8E4252AFD07B}"/>
              </a:ext>
            </a:extLst>
          </p:cNvPr>
          <p:cNvSpPr>
            <a:spLocks noGrp="1"/>
          </p:cNvSpPr>
          <p:nvPr>
            <p:ph type="title"/>
          </p:nvPr>
        </p:nvSpPr>
        <p:spPr/>
        <p:txBody>
          <a:bodyPr/>
          <a:lstStyle/>
          <a:p>
            <a:r>
              <a:rPr lang="en-IL" dirty="0"/>
              <a:t>MADAR</a:t>
            </a:r>
          </a:p>
        </p:txBody>
      </p:sp>
      <p:sp>
        <p:nvSpPr>
          <p:cNvPr id="3" name="Content Placeholder 2">
            <a:extLst>
              <a:ext uri="{FF2B5EF4-FFF2-40B4-BE49-F238E27FC236}">
                <a16:creationId xmlns:a16="http://schemas.microsoft.com/office/drawing/2014/main" id="{1B64A1C6-5564-52FB-57A6-E0470B482149}"/>
              </a:ext>
            </a:extLst>
          </p:cNvPr>
          <p:cNvSpPr>
            <a:spLocks noGrp="1"/>
          </p:cNvSpPr>
          <p:nvPr>
            <p:ph idx="1"/>
          </p:nvPr>
        </p:nvSpPr>
        <p:spPr/>
        <p:txBody>
          <a:bodyPr/>
          <a:lstStyle/>
          <a:p>
            <a:r>
              <a:rPr lang="en-US" b="1" dirty="0"/>
              <a:t>MADAR: Large-scale Arabic Dialect Identification:</a:t>
            </a:r>
          </a:p>
          <a:p>
            <a:pPr lvl="1"/>
            <a:r>
              <a:rPr lang="en-US" dirty="0"/>
              <a:t>Publication Date: 2019</a:t>
            </a:r>
          </a:p>
          <a:p>
            <a:pPr lvl="1"/>
            <a:r>
              <a:rPr lang="en-US" sz="2200" dirty="0"/>
              <a:t>MADAR (Multi-Arabic Dialect Applications and Resources) is a comprehensive project aimed at building resources and tools for Arabic dialect processing. Arabic dialects differ significantly from Modern Standard Arabic (MSA) and vary across regions, making dialect identification a challenging task. </a:t>
            </a:r>
            <a:endParaRPr lang="en-IL" sz="2200" dirty="0"/>
          </a:p>
        </p:txBody>
      </p:sp>
    </p:spTree>
    <p:extLst>
      <p:ext uri="{BB962C8B-B14F-4D97-AF65-F5344CB8AC3E}">
        <p14:creationId xmlns:p14="http://schemas.microsoft.com/office/powerpoint/2010/main" val="2083197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37085-5D77-3148-8FFB-64B5F5C44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C64AF-1C6A-597F-99D3-0714D815E86A}"/>
              </a:ext>
            </a:extLst>
          </p:cNvPr>
          <p:cNvSpPr>
            <a:spLocks noGrp="1"/>
          </p:cNvSpPr>
          <p:nvPr>
            <p:ph type="title"/>
          </p:nvPr>
        </p:nvSpPr>
        <p:spPr/>
        <p:txBody>
          <a:bodyPr/>
          <a:lstStyle/>
          <a:p>
            <a:r>
              <a:rPr lang="en-IL" dirty="0"/>
              <a:t>MADAR</a:t>
            </a:r>
          </a:p>
        </p:txBody>
      </p:sp>
      <p:sp>
        <p:nvSpPr>
          <p:cNvPr id="3" name="Content Placeholder 2">
            <a:extLst>
              <a:ext uri="{FF2B5EF4-FFF2-40B4-BE49-F238E27FC236}">
                <a16:creationId xmlns:a16="http://schemas.microsoft.com/office/drawing/2014/main" id="{769359C3-A10D-D2C7-DBA5-3C9F224855B3}"/>
              </a:ext>
            </a:extLst>
          </p:cNvPr>
          <p:cNvSpPr>
            <a:spLocks noGrp="1"/>
          </p:cNvSpPr>
          <p:nvPr>
            <p:ph idx="1"/>
          </p:nvPr>
        </p:nvSpPr>
        <p:spPr/>
        <p:txBody>
          <a:bodyPr>
            <a:normAutofit fontScale="92500"/>
          </a:bodyPr>
          <a:lstStyle/>
          <a:p>
            <a:pPr marL="0" indent="0">
              <a:buNone/>
            </a:pPr>
            <a:r>
              <a:rPr lang="en-US" sz="2400" dirty="0"/>
              <a:t>MADAR offers:</a:t>
            </a:r>
            <a:endParaRPr lang="en-US" b="1" dirty="0"/>
          </a:p>
          <a:p>
            <a:r>
              <a:rPr lang="en-US" b="1" dirty="0"/>
              <a:t>A Large Dataset</a:t>
            </a:r>
            <a:r>
              <a:rPr lang="en-US" dirty="0"/>
              <a:t>: MADAR provides a large-scale dataset of over 25 Arabic city dialects for NLP tasks.</a:t>
            </a:r>
          </a:p>
          <a:p>
            <a:r>
              <a:rPr lang="en-US" b="1" dirty="0"/>
              <a:t>Evaluation Benchmarks</a:t>
            </a:r>
            <a:r>
              <a:rPr lang="en-US" dirty="0"/>
              <a:t>: The project includes tools and benchmarks for dialect classification, machine translation between dialects, and sentiment analysis.</a:t>
            </a:r>
          </a:p>
          <a:p>
            <a:r>
              <a:rPr lang="en-US" b="1" dirty="0"/>
              <a:t>Applications</a:t>
            </a:r>
            <a:r>
              <a:rPr lang="en-US" dirty="0"/>
              <a:t>: MADAR supports research in areas such as machine learning, language identification, and cross-dialect communication, promoting a deeper understanding of Arabic dialect diversity.</a:t>
            </a:r>
            <a:endParaRPr lang="en-IL" sz="2400" dirty="0"/>
          </a:p>
        </p:txBody>
      </p:sp>
    </p:spTree>
    <p:extLst>
      <p:ext uri="{BB962C8B-B14F-4D97-AF65-F5344CB8AC3E}">
        <p14:creationId xmlns:p14="http://schemas.microsoft.com/office/powerpoint/2010/main" val="2356692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5DDEE-DEDA-EA97-D411-E2EC855D4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72FC1-D485-2E91-F18F-4624967881B5}"/>
              </a:ext>
            </a:extLst>
          </p:cNvPr>
          <p:cNvSpPr>
            <a:spLocks noGrp="1"/>
          </p:cNvSpPr>
          <p:nvPr>
            <p:ph type="title"/>
          </p:nvPr>
        </p:nvSpPr>
        <p:spPr/>
        <p:txBody>
          <a:bodyPr/>
          <a:lstStyle/>
          <a:p>
            <a:r>
              <a:rPr lang="en-US" dirty="0" err="1"/>
              <a:t>AraBERT</a:t>
            </a:r>
            <a:endParaRPr lang="en-IL" dirty="0"/>
          </a:p>
        </p:txBody>
      </p:sp>
      <p:sp>
        <p:nvSpPr>
          <p:cNvPr id="3" name="Content Placeholder 2">
            <a:extLst>
              <a:ext uri="{FF2B5EF4-FFF2-40B4-BE49-F238E27FC236}">
                <a16:creationId xmlns:a16="http://schemas.microsoft.com/office/drawing/2014/main" id="{FE2BBB26-7067-FF47-FCCE-B0426748B43D}"/>
              </a:ext>
            </a:extLst>
          </p:cNvPr>
          <p:cNvSpPr>
            <a:spLocks noGrp="1"/>
          </p:cNvSpPr>
          <p:nvPr>
            <p:ph idx="1"/>
          </p:nvPr>
        </p:nvSpPr>
        <p:spPr/>
        <p:txBody>
          <a:bodyPr>
            <a:normAutofit/>
          </a:bodyPr>
          <a:lstStyle/>
          <a:p>
            <a:r>
              <a:rPr lang="en-US" sz="2800" b="1" dirty="0" err="1"/>
              <a:t>AraBERT</a:t>
            </a:r>
            <a:r>
              <a:rPr lang="en-US" sz="2800" b="1" dirty="0"/>
              <a:t>: Pretrained Language Model for Arabic NLP:</a:t>
            </a:r>
          </a:p>
          <a:p>
            <a:pPr lvl="1"/>
            <a:r>
              <a:rPr lang="en-US" dirty="0"/>
              <a:t>Publication Date: 2020</a:t>
            </a:r>
          </a:p>
          <a:p>
            <a:pPr lvl="1"/>
            <a:r>
              <a:rPr lang="en-US" sz="2400" dirty="0" err="1"/>
              <a:t>AraBERT</a:t>
            </a:r>
            <a:r>
              <a:rPr lang="en-US" sz="2400" dirty="0"/>
              <a:t> is a pre-trained transformer-based language model designed specifically for Arabic NLP tasks. It is trained on a diverse corpus covering a variety of Arabic text types, including Modern Standard Arabic, dialectal Arabic, and classical Arabic.</a:t>
            </a:r>
            <a:endParaRPr lang="en-IL" sz="2400" dirty="0"/>
          </a:p>
        </p:txBody>
      </p:sp>
    </p:spTree>
    <p:extLst>
      <p:ext uri="{BB962C8B-B14F-4D97-AF65-F5344CB8AC3E}">
        <p14:creationId xmlns:p14="http://schemas.microsoft.com/office/powerpoint/2010/main" val="2972726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D15E6-41A6-46A2-7821-0871A9F7F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34304-739C-4AFE-921E-2F9E99983740}"/>
              </a:ext>
            </a:extLst>
          </p:cNvPr>
          <p:cNvSpPr>
            <a:spLocks noGrp="1"/>
          </p:cNvSpPr>
          <p:nvPr>
            <p:ph type="title"/>
          </p:nvPr>
        </p:nvSpPr>
        <p:spPr/>
        <p:txBody>
          <a:bodyPr/>
          <a:lstStyle/>
          <a:p>
            <a:r>
              <a:rPr lang="en-US" dirty="0" err="1"/>
              <a:t>AraBERT</a:t>
            </a:r>
            <a:endParaRPr lang="en-IL" dirty="0"/>
          </a:p>
        </p:txBody>
      </p:sp>
      <p:sp>
        <p:nvSpPr>
          <p:cNvPr id="3" name="Content Placeholder 2">
            <a:extLst>
              <a:ext uri="{FF2B5EF4-FFF2-40B4-BE49-F238E27FC236}">
                <a16:creationId xmlns:a16="http://schemas.microsoft.com/office/drawing/2014/main" id="{9FD2A168-145E-2102-5CCE-2C86DFBFF289}"/>
              </a:ext>
            </a:extLst>
          </p:cNvPr>
          <p:cNvSpPr>
            <a:spLocks noGrp="1"/>
          </p:cNvSpPr>
          <p:nvPr>
            <p:ph idx="1"/>
          </p:nvPr>
        </p:nvSpPr>
        <p:spPr/>
        <p:txBody>
          <a:bodyPr>
            <a:normAutofit lnSpcReduction="10000"/>
          </a:bodyPr>
          <a:lstStyle/>
          <a:p>
            <a:r>
              <a:rPr lang="en-US" sz="3000" b="1" dirty="0"/>
              <a:t>The model has been fine-tuned on several tasks such as:</a:t>
            </a:r>
          </a:p>
          <a:p>
            <a:pPr lvl="1"/>
            <a:r>
              <a:rPr lang="en-US" sz="2400" dirty="0"/>
              <a:t>Text Classification: </a:t>
            </a:r>
            <a:r>
              <a:rPr lang="en-US" sz="2400" dirty="0" err="1"/>
              <a:t>AraBERT</a:t>
            </a:r>
            <a:r>
              <a:rPr lang="en-US" sz="2400" dirty="0"/>
              <a:t> is used for tasks like sentiment analysis, question answering, and text summarization. </a:t>
            </a:r>
          </a:p>
          <a:p>
            <a:pPr lvl="1"/>
            <a:r>
              <a:rPr lang="en-US" sz="2400" dirty="0"/>
              <a:t>Named Entity Recognition: The model can identify and classify named entities in Arabic texts. </a:t>
            </a:r>
          </a:p>
          <a:p>
            <a:pPr lvl="1"/>
            <a:r>
              <a:rPr lang="en-US" sz="2400" dirty="0"/>
              <a:t>Machine Translation: </a:t>
            </a:r>
            <a:r>
              <a:rPr lang="en-US" sz="2400" dirty="0" err="1"/>
              <a:t>AraBERT</a:t>
            </a:r>
            <a:r>
              <a:rPr lang="en-US" sz="2400" dirty="0"/>
              <a:t> has been leveraged for improving Arabic to English machine translation tasks by better understanding the structure and semantics of Arabic text.</a:t>
            </a:r>
            <a:endParaRPr lang="en-IL" sz="2400" dirty="0"/>
          </a:p>
        </p:txBody>
      </p:sp>
    </p:spTree>
    <p:extLst>
      <p:ext uri="{BB962C8B-B14F-4D97-AF65-F5344CB8AC3E}">
        <p14:creationId xmlns:p14="http://schemas.microsoft.com/office/powerpoint/2010/main" val="80729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32B78-992F-DF63-F74A-2EFBF9B37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17BF8-2B51-FCEF-3D19-36491B85E676}"/>
              </a:ext>
            </a:extLst>
          </p:cNvPr>
          <p:cNvSpPr>
            <a:spLocks noGrp="1"/>
          </p:cNvSpPr>
          <p:nvPr>
            <p:ph type="title"/>
          </p:nvPr>
        </p:nvSpPr>
        <p:spPr/>
        <p:txBody>
          <a:bodyPr/>
          <a:lstStyle/>
          <a:p>
            <a:r>
              <a:rPr lang="en-US" dirty="0" err="1"/>
              <a:t>ArSentD</a:t>
            </a:r>
            <a:r>
              <a:rPr lang="en-US" dirty="0"/>
              <a:t>-LEV</a:t>
            </a:r>
            <a:endParaRPr lang="en-IL" dirty="0"/>
          </a:p>
        </p:txBody>
      </p:sp>
      <p:sp>
        <p:nvSpPr>
          <p:cNvPr id="3" name="Content Placeholder 2">
            <a:extLst>
              <a:ext uri="{FF2B5EF4-FFF2-40B4-BE49-F238E27FC236}">
                <a16:creationId xmlns:a16="http://schemas.microsoft.com/office/drawing/2014/main" id="{5A59F968-91CC-A199-A999-5746DB1E42B5}"/>
              </a:ext>
            </a:extLst>
          </p:cNvPr>
          <p:cNvSpPr>
            <a:spLocks noGrp="1"/>
          </p:cNvSpPr>
          <p:nvPr>
            <p:ph idx="1"/>
          </p:nvPr>
        </p:nvSpPr>
        <p:spPr/>
        <p:txBody>
          <a:bodyPr/>
          <a:lstStyle/>
          <a:p>
            <a:r>
              <a:rPr lang="en-US" b="1" dirty="0" err="1"/>
              <a:t>ArSentD</a:t>
            </a:r>
            <a:r>
              <a:rPr lang="en-US" b="1" dirty="0"/>
              <a:t>-LEV: Arabic Sentiment Dataset for Dialectal and Modern Standard Arabic:</a:t>
            </a:r>
          </a:p>
          <a:p>
            <a:pPr lvl="1"/>
            <a:r>
              <a:rPr lang="en-US" dirty="0"/>
              <a:t>Publication Date: 2021</a:t>
            </a:r>
          </a:p>
          <a:p>
            <a:pPr lvl="1"/>
            <a:r>
              <a:rPr lang="en-US" sz="2400" dirty="0" err="1"/>
              <a:t>ArSentD</a:t>
            </a:r>
            <a:r>
              <a:rPr lang="en-US" sz="2400" dirty="0"/>
              <a:t>-LEV is one of the largest publicly available Arabic sentiment analysis datasets that includes both Modern Standard Arabic (MSA) and different Arabic dialects. The dataset consists of over 22,000 annotated sentences, collected from social media platforms such as Twitter, covering topics like politics, entertainment, and general sentiments.</a:t>
            </a:r>
            <a:endParaRPr lang="en-IL" sz="2400" dirty="0"/>
          </a:p>
        </p:txBody>
      </p:sp>
    </p:spTree>
    <p:extLst>
      <p:ext uri="{BB962C8B-B14F-4D97-AF65-F5344CB8AC3E}">
        <p14:creationId xmlns:p14="http://schemas.microsoft.com/office/powerpoint/2010/main" val="3065947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D5A8-E9CB-608F-E96F-CAF224177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671B7-E73E-6C2A-6DD7-90504CAC4F4A}"/>
              </a:ext>
            </a:extLst>
          </p:cNvPr>
          <p:cNvSpPr>
            <a:spLocks noGrp="1"/>
          </p:cNvSpPr>
          <p:nvPr>
            <p:ph type="title"/>
          </p:nvPr>
        </p:nvSpPr>
        <p:spPr/>
        <p:txBody>
          <a:bodyPr/>
          <a:lstStyle/>
          <a:p>
            <a:r>
              <a:rPr lang="en-US" dirty="0" err="1"/>
              <a:t>ArSentD</a:t>
            </a:r>
            <a:r>
              <a:rPr lang="en-US" dirty="0"/>
              <a:t>-LEV</a:t>
            </a:r>
            <a:endParaRPr lang="en-IL" dirty="0"/>
          </a:p>
        </p:txBody>
      </p:sp>
      <p:sp>
        <p:nvSpPr>
          <p:cNvPr id="3" name="Content Placeholder 2">
            <a:extLst>
              <a:ext uri="{FF2B5EF4-FFF2-40B4-BE49-F238E27FC236}">
                <a16:creationId xmlns:a16="http://schemas.microsoft.com/office/drawing/2014/main" id="{E38C299D-5A91-B824-4702-FFF92EE1AA45}"/>
              </a:ext>
            </a:extLst>
          </p:cNvPr>
          <p:cNvSpPr>
            <a:spLocks noGrp="1"/>
          </p:cNvSpPr>
          <p:nvPr>
            <p:ph idx="1"/>
          </p:nvPr>
        </p:nvSpPr>
        <p:spPr/>
        <p:txBody>
          <a:bodyPr>
            <a:normAutofit/>
          </a:bodyPr>
          <a:lstStyle/>
          <a:p>
            <a:r>
              <a:rPr lang="en-US" dirty="0"/>
              <a:t>Dataset key features:</a:t>
            </a:r>
          </a:p>
          <a:p>
            <a:pPr lvl="1">
              <a:buFont typeface="Arial" panose="020B0604020202020204" pitchFamily="34" charset="0"/>
              <a:buChar char="•"/>
            </a:pPr>
            <a:r>
              <a:rPr lang="en-US" b="1" dirty="0"/>
              <a:t>Dialectal Diversity</a:t>
            </a:r>
            <a:r>
              <a:rPr lang="en-US" dirty="0"/>
              <a:t>: The dataset contains sentiment annotations for sentences in various dialects, including Egyptian, Levantine, and Gulf Arabic.</a:t>
            </a:r>
          </a:p>
          <a:p>
            <a:pPr lvl="1">
              <a:buFont typeface="Arial" panose="020B0604020202020204" pitchFamily="34" charset="0"/>
              <a:buChar char="•"/>
            </a:pPr>
            <a:r>
              <a:rPr lang="en-US" b="1" dirty="0"/>
              <a:t>Fine-grained Sentiment Labels</a:t>
            </a:r>
            <a:r>
              <a:rPr lang="en-US" dirty="0"/>
              <a:t>: Sentences are annotated with fine-grained sentiment labels (positive, negative, and neutral), enabling more nuanced sentiment classification.</a:t>
            </a:r>
          </a:p>
          <a:p>
            <a:pPr lvl="1">
              <a:buFont typeface="Arial" panose="020B0604020202020204" pitchFamily="34" charset="0"/>
              <a:buChar char="•"/>
            </a:pPr>
            <a:r>
              <a:rPr lang="en-US" b="1" dirty="0"/>
              <a:t>Machine Learning Applications</a:t>
            </a:r>
            <a:r>
              <a:rPr lang="en-US" dirty="0"/>
              <a:t>: </a:t>
            </a:r>
            <a:r>
              <a:rPr lang="en-US" dirty="0" err="1"/>
              <a:t>ArSentD</a:t>
            </a:r>
            <a:r>
              <a:rPr lang="en-US" dirty="0"/>
              <a:t>-LEV is widely used for training machine learning models for sentiment analysis, supporting NLP tasks such as opinion mining and social media analysis in Arabic.</a:t>
            </a:r>
          </a:p>
        </p:txBody>
      </p:sp>
    </p:spTree>
    <p:extLst>
      <p:ext uri="{BB962C8B-B14F-4D97-AF65-F5344CB8AC3E}">
        <p14:creationId xmlns:p14="http://schemas.microsoft.com/office/powerpoint/2010/main" val="1077022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57BC9-7661-C6C6-8809-1446EA09B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04199-518A-5B32-BA01-A28BB73CF34C}"/>
              </a:ext>
            </a:extLst>
          </p:cNvPr>
          <p:cNvSpPr>
            <a:spLocks noGrp="1"/>
          </p:cNvSpPr>
          <p:nvPr>
            <p:ph type="title"/>
          </p:nvPr>
        </p:nvSpPr>
        <p:spPr/>
        <p:txBody>
          <a:bodyPr/>
          <a:lstStyle/>
          <a:p>
            <a:r>
              <a:rPr lang="en-US" dirty="0"/>
              <a:t>Arabic WordNet (AWN)</a:t>
            </a:r>
            <a:endParaRPr lang="en-IL" dirty="0"/>
          </a:p>
        </p:txBody>
      </p:sp>
      <p:sp>
        <p:nvSpPr>
          <p:cNvPr id="3" name="Content Placeholder 2">
            <a:extLst>
              <a:ext uri="{FF2B5EF4-FFF2-40B4-BE49-F238E27FC236}">
                <a16:creationId xmlns:a16="http://schemas.microsoft.com/office/drawing/2014/main" id="{898F76AF-79C6-6FA3-4155-394DC6AB816A}"/>
              </a:ext>
            </a:extLst>
          </p:cNvPr>
          <p:cNvSpPr>
            <a:spLocks noGrp="1"/>
          </p:cNvSpPr>
          <p:nvPr>
            <p:ph idx="1"/>
          </p:nvPr>
        </p:nvSpPr>
        <p:spPr/>
        <p:txBody>
          <a:bodyPr/>
          <a:lstStyle/>
          <a:p>
            <a:r>
              <a:rPr lang="en-US" b="1" dirty="0"/>
              <a:t>Arabic WordNet (AWN): Lexical Database for Arabic:</a:t>
            </a:r>
          </a:p>
          <a:p>
            <a:pPr lvl="1"/>
            <a:r>
              <a:rPr lang="en-US" dirty="0"/>
              <a:t>Publication Date: 2006 (continuously updated)</a:t>
            </a:r>
          </a:p>
          <a:p>
            <a:pPr lvl="1"/>
            <a:r>
              <a:rPr lang="en-US" sz="2400" dirty="0"/>
              <a:t>Arabic WordNet (AWN) is a lexical database for Modern Standard Arabic, developed to mirror the structure of the Princeton WordNet for English. It is designed to support Arabic language processing in a variety of NLP applications.</a:t>
            </a:r>
            <a:endParaRPr lang="en-IL" sz="2400" dirty="0"/>
          </a:p>
        </p:txBody>
      </p:sp>
    </p:spTree>
    <p:extLst>
      <p:ext uri="{BB962C8B-B14F-4D97-AF65-F5344CB8AC3E}">
        <p14:creationId xmlns:p14="http://schemas.microsoft.com/office/powerpoint/2010/main" val="2128076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A5AD2-83C9-A9F3-9DE2-6C27955B5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AB99C-C4DF-B6E0-4E5E-B1C50E11FE4A}"/>
              </a:ext>
            </a:extLst>
          </p:cNvPr>
          <p:cNvSpPr>
            <a:spLocks noGrp="1"/>
          </p:cNvSpPr>
          <p:nvPr>
            <p:ph type="title"/>
          </p:nvPr>
        </p:nvSpPr>
        <p:spPr/>
        <p:txBody>
          <a:bodyPr/>
          <a:lstStyle/>
          <a:p>
            <a:r>
              <a:rPr lang="en-US" dirty="0"/>
              <a:t>Arabic WordNet (AWN)</a:t>
            </a:r>
            <a:endParaRPr lang="en-IL" dirty="0"/>
          </a:p>
        </p:txBody>
      </p:sp>
      <p:sp>
        <p:nvSpPr>
          <p:cNvPr id="3" name="Content Placeholder 2">
            <a:extLst>
              <a:ext uri="{FF2B5EF4-FFF2-40B4-BE49-F238E27FC236}">
                <a16:creationId xmlns:a16="http://schemas.microsoft.com/office/drawing/2014/main" id="{D323FC39-01E7-0645-E4BF-E188A2E32F42}"/>
              </a:ext>
            </a:extLst>
          </p:cNvPr>
          <p:cNvSpPr>
            <a:spLocks noGrp="1"/>
          </p:cNvSpPr>
          <p:nvPr>
            <p:ph idx="1"/>
          </p:nvPr>
        </p:nvSpPr>
        <p:spPr/>
        <p:txBody>
          <a:bodyPr/>
          <a:lstStyle/>
          <a:p>
            <a:r>
              <a:rPr lang="en-US" b="1" dirty="0"/>
              <a:t>NLP applications support including:</a:t>
            </a:r>
          </a:p>
          <a:p>
            <a:pPr lvl="1"/>
            <a:r>
              <a:rPr lang="en-US" b="1" dirty="0"/>
              <a:t>Word Sense Disambiguation</a:t>
            </a:r>
            <a:r>
              <a:rPr lang="en-US" dirty="0"/>
              <a:t>: AWN provides semantic relationships between Arabic words, helping in the disambiguation of homonyms in Arabic text.</a:t>
            </a:r>
          </a:p>
          <a:p>
            <a:pPr lvl="1"/>
            <a:r>
              <a:rPr lang="en-US" b="1" dirty="0"/>
              <a:t>Machine Translation</a:t>
            </a:r>
            <a:r>
              <a:rPr lang="en-US" dirty="0"/>
              <a:t>: By mapping Arabic words to their English equivalents in WordNet, AWN aids in more accurate Arabic-English machine translation.</a:t>
            </a:r>
          </a:p>
          <a:p>
            <a:pPr lvl="1"/>
            <a:r>
              <a:rPr lang="en-US" b="1" dirty="0"/>
              <a:t>Semantic Analysis</a:t>
            </a:r>
            <a:r>
              <a:rPr lang="en-US" dirty="0"/>
              <a:t>: AWN supports tasks like text classification, information retrieval, and semantic search, offering rich semantic information about Arabic vocabulary.</a:t>
            </a:r>
            <a:endParaRPr lang="en-IL" dirty="0"/>
          </a:p>
        </p:txBody>
      </p:sp>
    </p:spTree>
    <p:extLst>
      <p:ext uri="{BB962C8B-B14F-4D97-AF65-F5344CB8AC3E}">
        <p14:creationId xmlns:p14="http://schemas.microsoft.com/office/powerpoint/2010/main" val="4172644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EA078-10FD-2593-F0AD-77A96FCF2C1F}"/>
              </a:ext>
            </a:extLst>
          </p:cNvPr>
          <p:cNvSpPr>
            <a:spLocks noGrp="1"/>
          </p:cNvSpPr>
          <p:nvPr>
            <p:ph type="title"/>
          </p:nvPr>
        </p:nvSpPr>
        <p:spPr/>
        <p:txBody>
          <a:bodyPr/>
          <a:lstStyle/>
          <a:p>
            <a:r>
              <a:rPr lang="en-IL" dirty="0"/>
              <a:t>Refrences</a:t>
            </a:r>
          </a:p>
        </p:txBody>
      </p:sp>
      <p:sp>
        <p:nvSpPr>
          <p:cNvPr id="3" name="Content Placeholder 2">
            <a:extLst>
              <a:ext uri="{FF2B5EF4-FFF2-40B4-BE49-F238E27FC236}">
                <a16:creationId xmlns:a16="http://schemas.microsoft.com/office/drawing/2014/main" id="{966A401F-E607-9AE6-EF01-BE3EEBBF1140}"/>
              </a:ext>
            </a:extLst>
          </p:cNvPr>
          <p:cNvSpPr>
            <a:spLocks noGrp="1"/>
          </p:cNvSpPr>
          <p:nvPr>
            <p:ph idx="1"/>
          </p:nvPr>
        </p:nvSpPr>
        <p:spPr/>
        <p:txBody>
          <a:bodyPr>
            <a:normAutofit fontScale="70000" lnSpcReduction="20000"/>
          </a:bodyPr>
          <a:lstStyle/>
          <a:p>
            <a:pPr marL="457200" indent="-457200">
              <a:buFont typeface="+mj-lt"/>
              <a:buAutoNum type="arabicPeriod"/>
            </a:pPr>
            <a:r>
              <a:rPr lang="en-US" sz="1800" dirty="0">
                <a:solidFill>
                  <a:srgbClr val="0070C0"/>
                </a:solidFill>
                <a:hlinkClick r:id="rId2">
                  <a:extLst>
                    <a:ext uri="{A12FA001-AC4F-418D-AE19-62706E023703}">
                      <ahyp:hlinkClr xmlns:ahyp="http://schemas.microsoft.com/office/drawing/2018/hyperlinkcolor" val="tx"/>
                    </a:ext>
                  </a:extLst>
                </a:hlinkClick>
              </a:rPr>
              <a:t>Zitouni, Imed. (2014). Natural Language Processing of Semitic Languages. 10.1007/978-3-642-45358-8</a:t>
            </a:r>
            <a:r>
              <a:rPr lang="en-US" sz="1800" dirty="0">
                <a:solidFill>
                  <a:srgbClr val="0070C0"/>
                </a:solidFill>
              </a:rPr>
              <a:t>.</a:t>
            </a:r>
          </a:p>
          <a:p>
            <a:pPr marL="457200" indent="-457200">
              <a:buFont typeface="+mj-lt"/>
              <a:buAutoNum type="arabicPeriod"/>
            </a:pPr>
            <a:r>
              <a:rPr lang="en-US" sz="1800" dirty="0">
                <a:solidFill>
                  <a:srgbClr val="0070C0"/>
                </a:solidFill>
                <a:hlinkClick r:id="rId3">
                  <a:extLst>
                    <a:ext uri="{A12FA001-AC4F-418D-AE19-62706E023703}">
                      <ahyp:hlinkClr xmlns:ahyp="http://schemas.microsoft.com/office/drawing/2018/hyperlinkcolor" val="tx"/>
                    </a:ext>
                  </a:extLst>
                </a:hlinkClick>
              </a:rPr>
              <a:t>Repustate: Arabic NLP blog</a:t>
            </a:r>
            <a:r>
              <a:rPr lang="en-US" sz="1800" dirty="0">
                <a:solidFill>
                  <a:srgbClr val="0070C0"/>
                </a:solidFill>
              </a:rPr>
              <a:t>.</a:t>
            </a:r>
          </a:p>
          <a:p>
            <a:pPr marL="457200" indent="-457200">
              <a:buFont typeface="+mj-lt"/>
              <a:buAutoNum type="arabicPeriod"/>
            </a:pPr>
            <a:r>
              <a:rPr lang="en-US" sz="1800" dirty="0">
                <a:solidFill>
                  <a:srgbClr val="0070C0"/>
                </a:solidFill>
                <a:hlinkClick r:id="rId4">
                  <a:extLst>
                    <a:ext uri="{A12FA001-AC4F-418D-AE19-62706E023703}">
                      <ahyp:hlinkClr xmlns:ahyp="http://schemas.microsoft.com/office/drawing/2018/hyperlinkcolor" val="tx"/>
                    </a:ext>
                  </a:extLst>
                </a:hlinkClick>
              </a:rPr>
              <a:t>Wintner, S., Shehadi, S., Zeira, Y., Osmelak, D., &amp; Nov, Y. (2023). Shared Lexical Items as Triggers of Code Switching. Transactions of the Association for Computational Linguistics, 11, 1471-1484. MIT Press</a:t>
            </a:r>
            <a:r>
              <a:rPr lang="en-US" sz="1800" dirty="0">
                <a:solidFill>
                  <a:srgbClr val="0070C0"/>
                </a:solidFill>
              </a:rPr>
              <a:t>.</a:t>
            </a:r>
          </a:p>
          <a:p>
            <a:pPr marL="457200" indent="-457200">
              <a:buFont typeface="+mj-lt"/>
              <a:buAutoNum type="arabicPeriod"/>
            </a:pPr>
            <a:r>
              <a:rPr lang="en-US" sz="1800" u="sng" dirty="0" err="1">
                <a:solidFill>
                  <a:srgbClr val="0070C0"/>
                </a:solidFill>
              </a:rPr>
              <a:t>Tarteel</a:t>
            </a:r>
            <a:r>
              <a:rPr lang="en-US" sz="1800" u="sng" dirty="0">
                <a:solidFill>
                  <a:srgbClr val="0070C0"/>
                </a:solidFill>
              </a:rPr>
              <a:t>. (2019). AI-Powered Quranic Recitation and Memorization. Available on mobile and web platforms.</a:t>
            </a:r>
          </a:p>
          <a:p>
            <a:pPr marL="457200" indent="-457200">
              <a:buFont typeface="+mj-lt"/>
              <a:buAutoNum type="arabicPeriod"/>
            </a:pPr>
            <a:r>
              <a:rPr lang="en-US" sz="1800" dirty="0">
                <a:solidFill>
                  <a:srgbClr val="0070C0"/>
                </a:solidFill>
                <a:hlinkClick r:id="rId5">
                  <a:extLst>
                    <a:ext uri="{A12FA001-AC4F-418D-AE19-62706E023703}">
                      <ahyp:hlinkClr xmlns:ahyp="http://schemas.microsoft.com/office/drawing/2018/hyperlinkcolor" val="tx"/>
                    </a:ext>
                  </a:extLst>
                </a:hlinkClick>
              </a:rPr>
              <a:t>Bouamor, H., Habash, N., Zalmout, N., &amp; Obeid, O. (2019). The MADAR Arabic Dialect Corpus and Benchmark for Fine-Grained Dialect Identification. Proceedings of the 12th International Conference on Language Resources and Evaluation.</a:t>
            </a:r>
            <a:endParaRPr lang="en-US" sz="1800" dirty="0">
              <a:solidFill>
                <a:srgbClr val="0070C0"/>
              </a:solidFill>
            </a:endParaRPr>
          </a:p>
          <a:p>
            <a:pPr marL="457200" indent="-457200">
              <a:buFont typeface="+mj-lt"/>
              <a:buAutoNum type="arabicPeriod"/>
            </a:pPr>
            <a:r>
              <a:rPr lang="en-US" sz="1800" dirty="0">
                <a:solidFill>
                  <a:srgbClr val="0070C0"/>
                </a:solidFill>
                <a:hlinkClick r:id="rId6">
                  <a:extLst>
                    <a:ext uri="{A12FA001-AC4F-418D-AE19-62706E023703}">
                      <ahyp:hlinkClr xmlns:ahyp="http://schemas.microsoft.com/office/drawing/2018/hyperlinkcolor" val="tx"/>
                    </a:ext>
                  </a:extLst>
                </a:hlinkClick>
              </a:rPr>
              <a:t>Antoun, W., Baly, F., &amp; Hajj, H. (2020). AraBERT: Transformer-based Model for Arabic Language Understanding. Proceedings of the 2020 International Conference on Arabic Computational Linguistics.</a:t>
            </a:r>
            <a:endParaRPr lang="en-US" sz="1800" dirty="0">
              <a:solidFill>
                <a:srgbClr val="0070C0"/>
              </a:solidFill>
            </a:endParaRPr>
          </a:p>
          <a:p>
            <a:pPr marL="457200" indent="-457200">
              <a:buFont typeface="+mj-lt"/>
              <a:buAutoNum type="arabicPeriod"/>
            </a:pPr>
            <a:r>
              <a:rPr lang="en-US" sz="1800" dirty="0">
                <a:solidFill>
                  <a:srgbClr val="0070C0"/>
                </a:solidFill>
                <a:hlinkClick r:id="rId7">
                  <a:extLst>
                    <a:ext uri="{A12FA001-AC4F-418D-AE19-62706E023703}">
                      <ahyp:hlinkClr xmlns:ahyp="http://schemas.microsoft.com/office/drawing/2018/hyperlinkcolor" val="tx"/>
                    </a:ext>
                  </a:extLst>
                </a:hlinkClick>
              </a:rPr>
              <a:t>Alhindi, A., &amp; Ghanem, B. (2021). ArSentD-LEV: A Large-scale Arabic Sentiment Dataset for Multi-dialect Sentiment Analysis. Proceedings of the 2021 Conference of the North American Chapter of the Association for Computational Linguistics.</a:t>
            </a:r>
            <a:endParaRPr lang="en-US" sz="1800" dirty="0">
              <a:solidFill>
                <a:srgbClr val="0070C0"/>
              </a:solidFill>
            </a:endParaRPr>
          </a:p>
          <a:p>
            <a:pPr marL="457200" indent="-457200">
              <a:buFont typeface="+mj-lt"/>
              <a:buAutoNum type="arabicPeriod"/>
            </a:pPr>
            <a:r>
              <a:rPr lang="en-US" sz="1800" dirty="0">
                <a:solidFill>
                  <a:srgbClr val="0070C0"/>
                </a:solidFill>
                <a:hlinkClick r:id="rId8">
                  <a:extLst>
                    <a:ext uri="{A12FA001-AC4F-418D-AE19-62706E023703}">
                      <ahyp:hlinkClr xmlns:ahyp="http://schemas.microsoft.com/office/drawing/2018/hyperlinkcolor" val="tx"/>
                    </a:ext>
                  </a:extLst>
                </a:hlinkClick>
              </a:rPr>
              <a:t>Black, W., Elkateb, S., &amp; Rodríguez, H. (2006). Introducing the Arabic WordNet Project. Proceedings of the Fifth International Conference on Language Resources and Evaluation.</a:t>
            </a:r>
            <a:endParaRPr lang="en-US" sz="1800" dirty="0">
              <a:solidFill>
                <a:srgbClr val="0070C0"/>
              </a:solidFill>
            </a:endParaRPr>
          </a:p>
          <a:p>
            <a:pPr marL="457200" indent="-457200">
              <a:buFont typeface="+mj-lt"/>
              <a:buAutoNum type="arabicPeriod"/>
            </a:pPr>
            <a:r>
              <a:rPr lang="en-US" sz="1900" dirty="0">
                <a:solidFill>
                  <a:srgbClr val="0070C0"/>
                </a:solidFill>
                <a:hlinkClick r:id="rId9">
                  <a:extLst>
                    <a:ext uri="{A12FA001-AC4F-418D-AE19-62706E023703}">
                      <ahyp:hlinkClr xmlns:ahyp="http://schemas.microsoft.com/office/drawing/2018/hyperlinkcolor" val="tx"/>
                    </a:ext>
                  </a:extLst>
                </a:hlinkClick>
              </a:rPr>
              <a:t>OpenAI. (2023). ChatGPT (October 2023 version).</a:t>
            </a:r>
            <a:endParaRPr lang="en-IL" sz="1900" dirty="0">
              <a:solidFill>
                <a:srgbClr val="0070C0"/>
              </a:solidFill>
            </a:endParaRPr>
          </a:p>
        </p:txBody>
      </p:sp>
    </p:spTree>
    <p:extLst>
      <p:ext uri="{BB962C8B-B14F-4D97-AF65-F5344CB8AC3E}">
        <p14:creationId xmlns:p14="http://schemas.microsoft.com/office/powerpoint/2010/main" val="253168476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155</TotalTime>
  <Words>1902</Words>
  <Application>Microsoft Macintosh PowerPoint</Application>
  <PresentationFormat>Widescreen</PresentationFormat>
  <Paragraphs>88</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Garamond</vt:lpstr>
      <vt:lpstr>Organic</vt:lpstr>
      <vt:lpstr>Arabic NLP Overview</vt:lpstr>
      <vt:lpstr>Intro to Arabic</vt:lpstr>
      <vt:lpstr>Intro to Arabic</vt:lpstr>
      <vt:lpstr>Arabic Natural Language Processing</vt:lpstr>
      <vt:lpstr>Semitic Languages</vt:lpstr>
      <vt:lpstr>Challenges</vt:lpstr>
      <vt:lpstr>Example 1</vt:lpstr>
      <vt:lpstr>Example 2</vt:lpstr>
      <vt:lpstr>Problems</vt:lpstr>
      <vt:lpstr>Problems</vt:lpstr>
      <vt:lpstr>Problems</vt:lpstr>
      <vt:lpstr>Arabic NLP Projects</vt:lpstr>
      <vt:lpstr>Shared Lexical Items as Triggers of Code Switching</vt:lpstr>
      <vt:lpstr>Tarteel</vt:lpstr>
      <vt:lpstr>Tarteel</vt:lpstr>
      <vt:lpstr>MADAR</vt:lpstr>
      <vt:lpstr>MADAR</vt:lpstr>
      <vt:lpstr>AraBERT</vt:lpstr>
      <vt:lpstr>AraBERT</vt:lpstr>
      <vt:lpstr>ArSentD-LEV</vt:lpstr>
      <vt:lpstr>ArSentD-LEV</vt:lpstr>
      <vt:lpstr>Arabic WordNet (AWN)</vt:lpstr>
      <vt:lpstr>Arabic WordNet (AWN)</vt:lpstr>
      <vt:lpstr>Refrences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faisal omari</dc:creator>
  <cp:lastModifiedBy>faisal omari</cp:lastModifiedBy>
  <cp:revision>8</cp:revision>
  <dcterms:created xsi:type="dcterms:W3CDTF">2024-10-05T08:35:21Z</dcterms:created>
  <dcterms:modified xsi:type="dcterms:W3CDTF">2024-10-05T11:11:10Z</dcterms:modified>
</cp:coreProperties>
</file>