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700"/>
  </p:normalViewPr>
  <p:slideViewPr>
    <p:cSldViewPr snapToGrid="0">
      <p:cViewPr varScale="1">
        <p:scale>
          <a:sx n="106" d="100"/>
          <a:sy n="106" d="100"/>
        </p:scale>
        <p:origin x="4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https://arabic-rhetoric.haifa.ac.il/rhetorical-analysis/poem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https://docs.google.com/spreadsheets/d/1fPN9DTfc-F6WRKlKwrPScL8DSvPjZFcbe63BY1VvXNU/edit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B002-782B-C800-462A-FE1DF6654E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800" dirty="0"/>
              <a:t>Automated Rhetorical Analysis of </a:t>
            </a:r>
            <a:r>
              <a:rPr lang="en-US" sz="4800" dirty="0" err="1"/>
              <a:t>Imru</a:t>
            </a:r>
            <a:r>
              <a:rPr lang="en-US" sz="4800" dirty="0"/>
              <a:t>’ al-Qais’ Poem (No. 1)</a:t>
            </a:r>
            <a:endParaRPr lang="en-IL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7DB4E-B4B0-9047-D19D-1614265CA9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 rtl="1"/>
            <a:r>
              <a:rPr lang="en-US" dirty="0"/>
              <a:t>A Comparison between Manual Analysis (Dr. Ali Hussein) and AI-based Analysis (ChatGPT)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7230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9815-8DA7-6F5F-2924-C784ABD84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C967F-3D86-EE2B-1ECA-2A5806DCF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Goal:</a:t>
            </a:r>
            <a:r>
              <a:rPr lang="en-US" dirty="0"/>
              <a:t> Evaluate the ability of ChatGPT to perform rhetorical analysis of classical Arabic poetry.</a:t>
            </a:r>
            <a:endParaRPr lang="ar-SA" dirty="0"/>
          </a:p>
          <a:p>
            <a:r>
              <a:rPr lang="en-US" b="1" dirty="0"/>
              <a:t>Basis:</a:t>
            </a:r>
            <a:r>
              <a:rPr lang="en-US" dirty="0"/>
              <a:t> Using the poem of </a:t>
            </a:r>
            <a:r>
              <a:rPr lang="en-US" dirty="0" err="1"/>
              <a:t>Imru</a:t>
            </a:r>
            <a:r>
              <a:rPr lang="en-US" dirty="0"/>
              <a:t>’ al-Qais published on the </a:t>
            </a:r>
            <a:r>
              <a:rPr lang="en-US" i="1" dirty="0"/>
              <a:t>Arabic Rhetoric</a:t>
            </a:r>
            <a:r>
              <a:rPr lang="en-US" dirty="0"/>
              <a:t> website.</a:t>
            </a:r>
            <a:endParaRPr lang="ar-SA" dirty="0"/>
          </a:p>
          <a:p>
            <a:r>
              <a:rPr lang="en-US" b="1" dirty="0"/>
              <a:t>Approach:</a:t>
            </a:r>
            <a:r>
              <a:rPr lang="en-US" dirty="0"/>
              <a:t> Compare the </a:t>
            </a:r>
            <a:r>
              <a:rPr lang="en-US" b="1" dirty="0"/>
              <a:t>manual human analysis</a:t>
            </a:r>
            <a:r>
              <a:rPr lang="en-US" dirty="0"/>
              <a:t> by Dr. Ali Hussein with the </a:t>
            </a:r>
            <a:r>
              <a:rPr lang="en-US" b="1" dirty="0"/>
              <a:t>AI-generated analysis</a:t>
            </a:r>
            <a:r>
              <a:rPr lang="en-US" dirty="0"/>
              <a:t>.</a:t>
            </a:r>
            <a:endParaRPr lang="ar-SA" dirty="0"/>
          </a:p>
          <a:p>
            <a:r>
              <a:rPr lang="en-US" b="1" dirty="0"/>
              <a:t>Process:</a:t>
            </a:r>
            <a:r>
              <a:rPr lang="en-US" dirty="0"/>
              <a:t> Analysis was done</a:t>
            </a:r>
            <a:endParaRPr lang="ar-SA" dirty="0"/>
          </a:p>
          <a:p>
            <a:pPr marL="800100" lvl="1" indent="-342900">
              <a:buAutoNum type="arabicPeriod"/>
            </a:pPr>
            <a:r>
              <a:rPr lang="en-US" dirty="0"/>
              <a:t>Line by line,</a:t>
            </a:r>
          </a:p>
          <a:p>
            <a:pPr marL="800100" lvl="1" indent="-342900">
              <a:buAutoNum type="arabicPeriod"/>
            </a:pPr>
            <a:r>
              <a:rPr lang="en-US" dirty="0"/>
              <a:t>Every 10 verses together,</a:t>
            </a:r>
          </a:p>
          <a:p>
            <a:pPr marL="800100" lvl="1" indent="-342900">
              <a:buAutoNum type="arabicPeriod"/>
            </a:pPr>
            <a:r>
              <a:rPr lang="en-US" dirty="0"/>
              <a:t>Then the entire poem at once.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59715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ABD3C-AF74-7A14-D6E3-9DBBA5A4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E1077-1587-F89E-5E30-1BEACC1E1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Poem and Manual Analysis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89E11-AB80-A7C4-C339-1CC53177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Poem: Poem No. 1 – Al-</a:t>
            </a:r>
            <a:r>
              <a:rPr lang="en-US" dirty="0" err="1"/>
              <a:t>Ṭawīl</a:t>
            </a:r>
            <a:r>
              <a:rPr lang="en-US" dirty="0"/>
              <a:t> meter – </a:t>
            </a:r>
            <a:r>
              <a:rPr lang="en-US" dirty="0" err="1"/>
              <a:t>Imru</a:t>
            </a:r>
            <a:r>
              <a:rPr lang="en-US" dirty="0"/>
              <a:t>’ al-Qais</a:t>
            </a:r>
          </a:p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arabic-rhetoric.haifa.ac.il</a:t>
            </a:r>
            <a:r>
              <a:rPr lang="en-US" dirty="0">
                <a:hlinkClick r:id="rId2"/>
              </a:rPr>
              <a:t>/rhetorical-analysis/poems</a:t>
            </a:r>
            <a:endParaRPr lang="en-US" dirty="0"/>
          </a:p>
          <a:p>
            <a:r>
              <a:rPr lang="en-US" dirty="0"/>
              <a:t>Manual analysis by Dr. Ali Hussein, used as the ground truth.</a:t>
            </a:r>
          </a:p>
          <a:p>
            <a:r>
              <a:rPr lang="en-US" dirty="0"/>
              <a:t>Each verse includes rhetorical features such as:</a:t>
            </a:r>
          </a:p>
          <a:p>
            <a:r>
              <a:rPr lang="en-US" dirty="0"/>
              <a:t>Simile, Metaphor, Metonymy (</a:t>
            </a:r>
            <a:r>
              <a:rPr lang="en-US" dirty="0" err="1"/>
              <a:t>Kināyah</a:t>
            </a:r>
            <a:r>
              <a:rPr lang="en-US" dirty="0"/>
              <a:t>), Antithesis, Paronomasia (</a:t>
            </a:r>
            <a:r>
              <a:rPr lang="en-US" dirty="0" err="1"/>
              <a:t>Jinās</a:t>
            </a:r>
            <a:r>
              <a:rPr lang="en-US" dirty="0"/>
              <a:t>), Spatial imagery, Poetic purpose...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5388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B4CD5-6E10-968D-1FCC-0470D23A2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4B80-08C7-E7BE-7AD7-72D154EBC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ChatGPT Prompt and Method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E107D-197B-F160-912F-59C19655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Custom </a:t>
            </a:r>
            <a:r>
              <a:rPr lang="en-US" b="1" dirty="0"/>
              <a:t>prompt</a:t>
            </a:r>
            <a:r>
              <a:rPr lang="en-US" dirty="0"/>
              <a:t> written for ChatGPT</a:t>
            </a:r>
          </a:p>
          <a:p>
            <a:r>
              <a:rPr lang="en-US" dirty="0"/>
              <a:t>The prompt required the model to detect </a:t>
            </a:r>
            <a:r>
              <a:rPr lang="en-US" b="1" dirty="0"/>
              <a:t>all possible rhetorical devices.</a:t>
            </a:r>
          </a:p>
          <a:p>
            <a:r>
              <a:rPr lang="en-US" dirty="0"/>
              <a:t>The analysis was run in </a:t>
            </a:r>
            <a:r>
              <a:rPr lang="en-US" b="1" dirty="0"/>
              <a:t>three modes:</a:t>
            </a:r>
            <a:endParaRPr lang="en-IL" b="1" dirty="0"/>
          </a:p>
          <a:p>
            <a:pPr marL="800100" lvl="1" indent="-342900">
              <a:buAutoNum type="arabicPeriod"/>
            </a:pPr>
            <a:r>
              <a:rPr lang="en-US" dirty="0"/>
              <a:t>Verse-by-verse analysis</a:t>
            </a:r>
          </a:p>
          <a:p>
            <a:pPr marL="800100" lvl="1" indent="-342900">
              <a:buAutoNum type="arabicPeriod"/>
            </a:pPr>
            <a:r>
              <a:rPr lang="en-US" dirty="0"/>
              <a:t>10 verses at a </a:t>
            </a:r>
            <a:r>
              <a:rPr lang="en-US" dirty="0" err="1"/>
              <a:t>timeFull</a:t>
            </a:r>
            <a:r>
              <a:rPr lang="en-US" dirty="0"/>
              <a:t>-poem input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83393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63731-C679-9381-F1FD-8D6F9F0AC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F086-B722-4093-BEB1-72BBD0622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(Verse No. 41)</a:t>
            </a:r>
            <a:endParaRPr lang="en-I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DF9B52-7B73-C14B-44D6-C3E24377F3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39690" y="2016125"/>
          <a:ext cx="8626945" cy="3449638"/>
        </p:xfrm>
        <a:graphic>
          <a:graphicData uri="http://schemas.openxmlformats.org/drawingml/2006/table">
            <a:tbl>
              <a:tblPr/>
              <a:tblGrid>
                <a:gridCol w="1725389">
                  <a:extLst>
                    <a:ext uri="{9D8B030D-6E8A-4147-A177-3AD203B41FA5}">
                      <a16:colId xmlns:a16="http://schemas.microsoft.com/office/drawing/2014/main" val="1050749216"/>
                    </a:ext>
                  </a:extLst>
                </a:gridCol>
                <a:gridCol w="1725389">
                  <a:extLst>
                    <a:ext uri="{9D8B030D-6E8A-4147-A177-3AD203B41FA5}">
                      <a16:colId xmlns:a16="http://schemas.microsoft.com/office/drawing/2014/main" val="3499095522"/>
                    </a:ext>
                  </a:extLst>
                </a:gridCol>
                <a:gridCol w="1725389">
                  <a:extLst>
                    <a:ext uri="{9D8B030D-6E8A-4147-A177-3AD203B41FA5}">
                      <a16:colId xmlns:a16="http://schemas.microsoft.com/office/drawing/2014/main" val="2208255244"/>
                    </a:ext>
                  </a:extLst>
                </a:gridCol>
                <a:gridCol w="1725389">
                  <a:extLst>
                    <a:ext uri="{9D8B030D-6E8A-4147-A177-3AD203B41FA5}">
                      <a16:colId xmlns:a16="http://schemas.microsoft.com/office/drawing/2014/main" val="1673643872"/>
                    </a:ext>
                  </a:extLst>
                </a:gridCol>
                <a:gridCol w="1725389">
                  <a:extLst>
                    <a:ext uri="{9D8B030D-6E8A-4147-A177-3AD203B41FA5}">
                      <a16:colId xmlns:a16="http://schemas.microsoft.com/office/drawing/2014/main" val="1940301270"/>
                    </a:ext>
                  </a:extLst>
                </a:gridCol>
              </a:tblGrid>
              <a:tr h="328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Verse No.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Verse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Expression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Rhetorical Device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Explanation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608741"/>
                  </a:ext>
                </a:extLst>
              </a:tr>
              <a:tr h="1806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41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sz="1600"/>
                        <a:t>تَسَلَّتْ عَمَايَاتُ الرِّجَالِ عَنِ الصِّبَا وَلَيْسَ فُؤَادِي عَنْ هَوَاكِ بِمُنْسَلِي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sz="1600" b="1"/>
                        <a:t>تسلت عمايات الرجال عن الصبا</a:t>
                      </a:r>
                      <a:endParaRPr lang="ar-SA" sz="1600"/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Metonymy (Kināyah)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Indicates that men have matured and abandoned youthful folly, while the poet remains faithful to love.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546270"/>
                  </a:ext>
                </a:extLst>
              </a:tr>
              <a:tr h="131414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600"/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600"/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SA" sz="1600" b="1"/>
                        <a:t>وليس فؤادي عن هواك بمنسل</a:t>
                      </a:r>
                      <a:endParaRPr lang="ar-SA" sz="1600"/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Metaphor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Compares the heart to something inseparably bound to the beloved.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037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702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3E353-792F-E5B6-3B7C-ABCAD940A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8684-842F-A68C-A575-2E10038F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vs. Automated Comparison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A02B7-CEAA-A4C1-2B72-FA9798CCF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Each rhetorical element (e.g., simile, metaphor, etc.) treated as a class label.</a:t>
            </a:r>
          </a:p>
          <a:p>
            <a:r>
              <a:rPr lang="en-US" dirty="0"/>
              <a:t>For each element, the following were calculated:</a:t>
            </a:r>
          </a:p>
          <a:p>
            <a:r>
              <a:rPr lang="en-US" dirty="0"/>
              <a:t>True Positive (TP): detected by both manual and AI analysis</a:t>
            </a:r>
          </a:p>
          <a:p>
            <a:r>
              <a:rPr lang="en-US" dirty="0"/>
              <a:t>False Positive (FP): detected by AI only</a:t>
            </a:r>
          </a:p>
          <a:p>
            <a:r>
              <a:rPr lang="en-US" dirty="0"/>
              <a:t>False Negative (FN): missed by AI</a:t>
            </a:r>
          </a:p>
          <a:p>
            <a:r>
              <a:rPr lang="en-US" dirty="0"/>
              <a:t>Then computed:</a:t>
            </a:r>
          </a:p>
          <a:p>
            <a:pPr lvl="1"/>
            <a:r>
              <a:rPr lang="en-US" dirty="0"/>
              <a:t>Precision (accuracy of detected elements)</a:t>
            </a:r>
          </a:p>
          <a:p>
            <a:pPr lvl="1"/>
            <a:r>
              <a:rPr lang="en-US" dirty="0"/>
              <a:t>Recall (coverage of true elements)</a:t>
            </a:r>
          </a:p>
          <a:p>
            <a:pPr lvl="1"/>
            <a:r>
              <a:rPr lang="en-US" dirty="0"/>
              <a:t>F1 Score (balanced performance metric)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06766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699D-ECEC-386D-420C-EE0CCB1AB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7ADA1-F8B8-C34F-4A13-097BF0FF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Results by Rhetorical Element</a:t>
            </a:r>
            <a:endParaRPr lang="en-I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EC7540-BAEA-5833-B918-C01B18C489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0974" y="2323624"/>
          <a:ext cx="9604378" cy="2834640"/>
        </p:xfrm>
        <a:graphic>
          <a:graphicData uri="http://schemas.openxmlformats.org/drawingml/2006/table">
            <a:tbl>
              <a:tblPr/>
              <a:tblGrid>
                <a:gridCol w="1372054">
                  <a:extLst>
                    <a:ext uri="{9D8B030D-6E8A-4147-A177-3AD203B41FA5}">
                      <a16:colId xmlns:a16="http://schemas.microsoft.com/office/drawing/2014/main" val="1026273466"/>
                    </a:ext>
                  </a:extLst>
                </a:gridCol>
                <a:gridCol w="1372054">
                  <a:extLst>
                    <a:ext uri="{9D8B030D-6E8A-4147-A177-3AD203B41FA5}">
                      <a16:colId xmlns:a16="http://schemas.microsoft.com/office/drawing/2014/main" val="520779264"/>
                    </a:ext>
                  </a:extLst>
                </a:gridCol>
                <a:gridCol w="1372054">
                  <a:extLst>
                    <a:ext uri="{9D8B030D-6E8A-4147-A177-3AD203B41FA5}">
                      <a16:colId xmlns:a16="http://schemas.microsoft.com/office/drawing/2014/main" val="422421704"/>
                    </a:ext>
                  </a:extLst>
                </a:gridCol>
                <a:gridCol w="1372054">
                  <a:extLst>
                    <a:ext uri="{9D8B030D-6E8A-4147-A177-3AD203B41FA5}">
                      <a16:colId xmlns:a16="http://schemas.microsoft.com/office/drawing/2014/main" val="4136412219"/>
                    </a:ext>
                  </a:extLst>
                </a:gridCol>
                <a:gridCol w="1372054">
                  <a:extLst>
                    <a:ext uri="{9D8B030D-6E8A-4147-A177-3AD203B41FA5}">
                      <a16:colId xmlns:a16="http://schemas.microsoft.com/office/drawing/2014/main" val="3711499090"/>
                    </a:ext>
                  </a:extLst>
                </a:gridCol>
                <a:gridCol w="1372054">
                  <a:extLst>
                    <a:ext uri="{9D8B030D-6E8A-4147-A177-3AD203B41FA5}">
                      <a16:colId xmlns:a16="http://schemas.microsoft.com/office/drawing/2014/main" val="3227918398"/>
                    </a:ext>
                  </a:extLst>
                </a:gridCol>
                <a:gridCol w="1372054">
                  <a:extLst>
                    <a:ext uri="{9D8B030D-6E8A-4147-A177-3AD203B41FA5}">
                      <a16:colId xmlns:a16="http://schemas.microsoft.com/office/drawing/2014/main" val="206151423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Rhetorical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19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Simile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47115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Metaphor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9601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Metonymy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47367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Antithesis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57598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Paronomasia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633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Hyperbole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 dirty="0"/>
                        <a:t>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534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4203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44BCA-438D-8F56-FB6A-9ED2A4F9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14928-AA95-708B-4EB6-E93EEE65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Performance Indicators</a:t>
            </a:r>
            <a:endParaRPr lang="en-I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D7D91C-39CF-7CD9-D8C7-34F422AF76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0975" y="2460784"/>
          <a:ext cx="9604374" cy="2560320"/>
        </p:xfrm>
        <a:graphic>
          <a:graphicData uri="http://schemas.openxmlformats.org/drawingml/2006/table">
            <a:tbl>
              <a:tblPr/>
              <a:tblGrid>
                <a:gridCol w="4802187">
                  <a:extLst>
                    <a:ext uri="{9D8B030D-6E8A-4147-A177-3AD203B41FA5}">
                      <a16:colId xmlns:a16="http://schemas.microsoft.com/office/drawing/2014/main" val="81599766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167204274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7149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Macro 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0749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Macro 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2111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Macro F1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2812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Micro 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3861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Micro 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/>
                        <a:t>0.68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8520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Micro F1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800" dirty="0"/>
                        <a:t>0.57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103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286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1ACD5-FFBD-BF01-B3BA-38F64F6C9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CAA6-8753-10A7-32F5-243C79EE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Observations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5BD09-893B-BFE9-1D73-A18DA5550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800" dirty="0"/>
              <a:t>ChatGPT performed strongly in identifying core rhetorical devices.</a:t>
            </a:r>
          </a:p>
          <a:p>
            <a:r>
              <a:rPr lang="en-US" sz="2800" dirty="0"/>
              <a:t>Weaknesses appear in rare or context-dependent devices.</a:t>
            </a:r>
          </a:p>
          <a:p>
            <a:r>
              <a:rPr lang="en-US" sz="2800" dirty="0"/>
              <a:t>Some false positives occurred due to interpretive overreach.</a:t>
            </a:r>
          </a:p>
          <a:p>
            <a:r>
              <a:rPr lang="en-US" sz="2800" dirty="0"/>
              <a:t>Indicates AI’s potential for assisting in Arabic rhetorical analysis.</a:t>
            </a:r>
          </a:p>
          <a:p>
            <a:r>
              <a:rPr lang="en-US" sz="2800" dirty="0"/>
              <a:t>Future systems can improve with training on specialized rhetoric corpora.</a:t>
            </a: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1353901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B0FA9-2573-A6FD-8F1E-9A399A3D0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63AD4-BCEE-2C9D-0B94-4382C4578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Insights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9BFA3-AE04-EE53-023F-43D150368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Automated rhetorical analysis achieved moderate accuracy (F1 ≈ 0.57).</a:t>
            </a:r>
          </a:p>
          <a:p>
            <a:r>
              <a:rPr lang="en-US" sz="3200" dirty="0"/>
              <a:t>Strong in structural imagery (simile, metaphor).</a:t>
            </a:r>
          </a:p>
          <a:p>
            <a:r>
              <a:rPr lang="en-US" sz="3200" dirty="0"/>
              <a:t>All Results can be found on the </a:t>
            </a:r>
            <a:r>
              <a:rPr lang="en-US" sz="3200" dirty="0">
                <a:hlinkClick r:id="rId2"/>
              </a:rPr>
              <a:t>link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419199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33</TotalTime>
  <Words>530</Words>
  <Application>Microsoft Macintosh PowerPoint</Application>
  <PresentationFormat>Widescreen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Automated Rhetorical Analysis of Imru’ al-Qais’ Poem (No. 1)</vt:lpstr>
      <vt:lpstr>Idea</vt:lpstr>
      <vt:lpstr>The Poem and Manual Analysis</vt:lpstr>
      <vt:lpstr>ChatGPT Prompt and Method</vt:lpstr>
      <vt:lpstr>Example (Verse No. 41)</vt:lpstr>
      <vt:lpstr>Manual vs. Automated Comparison</vt:lpstr>
      <vt:lpstr>Quantitative Results by Rhetorical Element</vt:lpstr>
      <vt:lpstr>Overall Performance Indicators</vt:lpstr>
      <vt:lpstr>Key Observations</vt:lpstr>
      <vt:lpstr>Summary and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פייסל עומרי</dc:creator>
  <cp:lastModifiedBy>פייסל עומרי</cp:lastModifiedBy>
  <cp:revision>6</cp:revision>
  <dcterms:created xsi:type="dcterms:W3CDTF">2025-10-16T06:51:14Z</dcterms:created>
  <dcterms:modified xsi:type="dcterms:W3CDTF">2025-11-11T17:21:10Z</dcterms:modified>
</cp:coreProperties>
</file>