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0"/>
    <p:restoredTop sz="94700"/>
  </p:normalViewPr>
  <p:slideViewPr>
    <p:cSldViewPr snapToGrid="0">
      <p:cViewPr>
        <p:scale>
          <a:sx n="66" d="100"/>
          <a:sy n="66" d="100"/>
        </p:scale>
        <p:origin x="-532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https://arabic-rhetoric.haifa.ac.il/rhetorical-analysis/poem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mailto:https://docs.google.com/spreadsheets/d/1fPN9DTfc-F6WRKlKwrPScL8DSvPjZFcbe63BY1VvXNU/edit?usp=sharing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FB002-782B-C800-462A-FE1DF6654E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800" dirty="0"/>
              <a:t>Automated Rhetorical Analysis of </a:t>
            </a:r>
            <a:r>
              <a:rPr lang="en-US" sz="4800" dirty="0" err="1"/>
              <a:t>Imru</a:t>
            </a:r>
            <a:r>
              <a:rPr lang="en-US" sz="4800" dirty="0"/>
              <a:t>’ al-Qais’ Poem (No. 1)</a:t>
            </a:r>
            <a:endParaRPr lang="en-IL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7DB4E-B4B0-9047-D19D-1614265CA9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 rtl="1"/>
            <a:r>
              <a:rPr lang="en-US" dirty="0"/>
              <a:t>A Comparison between Manual Analysis (Dr. Ali Hussein) and AI-based Analysis (ChatGPT)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172304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C9815-8DA7-6F5F-2924-C784ABD84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C967F-3D86-EE2B-1ECA-2A5806DCF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Goal:</a:t>
            </a:r>
            <a:r>
              <a:rPr lang="en-US" dirty="0"/>
              <a:t> Evaluate the ability of ChatGPT to perform rhetorical analysis of classical Arabic poetry.</a:t>
            </a:r>
            <a:endParaRPr lang="ar-SA" dirty="0"/>
          </a:p>
          <a:p>
            <a:r>
              <a:rPr lang="en-US" b="1" dirty="0"/>
              <a:t>Basis:</a:t>
            </a:r>
            <a:r>
              <a:rPr lang="en-US" dirty="0"/>
              <a:t> Using the poem of </a:t>
            </a:r>
            <a:r>
              <a:rPr lang="en-US" dirty="0" err="1"/>
              <a:t>Imru</a:t>
            </a:r>
            <a:r>
              <a:rPr lang="en-US" dirty="0"/>
              <a:t>’ al-Qais published on the </a:t>
            </a:r>
            <a:r>
              <a:rPr lang="en-US" i="1" dirty="0"/>
              <a:t>Arabic Rhetoric</a:t>
            </a:r>
            <a:r>
              <a:rPr lang="en-US" dirty="0"/>
              <a:t> website.</a:t>
            </a:r>
            <a:endParaRPr lang="ar-SA" dirty="0"/>
          </a:p>
          <a:p>
            <a:r>
              <a:rPr lang="en-US" b="1" dirty="0"/>
              <a:t>Approach:</a:t>
            </a:r>
            <a:r>
              <a:rPr lang="en-US" dirty="0"/>
              <a:t> Compare the </a:t>
            </a:r>
            <a:r>
              <a:rPr lang="en-US" b="1" dirty="0"/>
              <a:t>manual human analysis</a:t>
            </a:r>
            <a:r>
              <a:rPr lang="en-US" dirty="0"/>
              <a:t> by Dr. Ali Hussein with the </a:t>
            </a:r>
            <a:r>
              <a:rPr lang="en-US" b="1" dirty="0"/>
              <a:t>AI-generated analysis</a:t>
            </a:r>
            <a:r>
              <a:rPr lang="en-US" dirty="0"/>
              <a:t>.</a:t>
            </a:r>
            <a:endParaRPr lang="ar-SA" dirty="0"/>
          </a:p>
          <a:p>
            <a:r>
              <a:rPr lang="en-US" b="1" dirty="0"/>
              <a:t>Process:</a:t>
            </a:r>
            <a:r>
              <a:rPr lang="en-US" dirty="0"/>
              <a:t> Analysis was done</a:t>
            </a:r>
            <a:endParaRPr lang="ar-SA" dirty="0"/>
          </a:p>
          <a:p>
            <a:pPr marL="800100" lvl="1" indent="-342900">
              <a:buAutoNum type="arabicPeriod"/>
            </a:pPr>
            <a:r>
              <a:rPr lang="en-US" dirty="0"/>
              <a:t>Line by line,</a:t>
            </a:r>
          </a:p>
          <a:p>
            <a:pPr marL="800100" lvl="1" indent="-342900">
              <a:buAutoNum type="arabicPeriod"/>
            </a:pPr>
            <a:r>
              <a:rPr lang="en-US" dirty="0"/>
              <a:t>Every 10 verses together,</a:t>
            </a:r>
          </a:p>
          <a:p>
            <a:pPr marL="800100" lvl="1" indent="-342900">
              <a:buAutoNum type="arabicPeriod"/>
            </a:pPr>
            <a:r>
              <a:rPr lang="en-US" dirty="0"/>
              <a:t>Then the entire poem at once.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859715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ABD3C-AF74-7A14-D6E3-9DBBA5A4B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E1077-1587-F89E-5E30-1BEACC1E1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Poem and Manual Analysis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89E11-AB80-A7C4-C339-1CC531777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Poem: Poem No. 1 – Al-</a:t>
            </a:r>
            <a:r>
              <a:rPr lang="en-US" dirty="0" err="1"/>
              <a:t>Ṭawīl</a:t>
            </a:r>
            <a:r>
              <a:rPr lang="en-US" dirty="0"/>
              <a:t> meter – </a:t>
            </a:r>
            <a:r>
              <a:rPr lang="en-US" dirty="0" err="1"/>
              <a:t>Imru</a:t>
            </a:r>
            <a:r>
              <a:rPr lang="en-US" dirty="0"/>
              <a:t>’ al-Qais</a:t>
            </a:r>
          </a:p>
          <a:p>
            <a:r>
              <a:rPr lang="en-US" dirty="0"/>
              <a:t>Source: </a:t>
            </a:r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arabic-rhetoric.haifa.ac.il</a:t>
            </a:r>
            <a:r>
              <a:rPr lang="en-US" dirty="0">
                <a:hlinkClick r:id="rId2"/>
              </a:rPr>
              <a:t>/rhetorical-analysis/poems</a:t>
            </a:r>
            <a:endParaRPr lang="en-US" dirty="0"/>
          </a:p>
          <a:p>
            <a:r>
              <a:rPr lang="en-US" dirty="0"/>
              <a:t>Manual analysis by Dr. Ali Hussein, used as the ground truth.</a:t>
            </a:r>
          </a:p>
          <a:p>
            <a:r>
              <a:rPr lang="en-US" dirty="0"/>
              <a:t>Each verse includes rhetorical features such as:</a:t>
            </a:r>
          </a:p>
          <a:p>
            <a:r>
              <a:rPr lang="en-US" dirty="0"/>
              <a:t>Simile, Metaphor, Metonymy (</a:t>
            </a:r>
            <a:r>
              <a:rPr lang="en-US" dirty="0" err="1"/>
              <a:t>Kināyah</a:t>
            </a:r>
            <a:r>
              <a:rPr lang="en-US" dirty="0"/>
              <a:t>), Antithesis, Paronomasia (</a:t>
            </a:r>
            <a:r>
              <a:rPr lang="en-US" dirty="0" err="1"/>
              <a:t>Jinās</a:t>
            </a:r>
            <a:r>
              <a:rPr lang="en-US" dirty="0"/>
              <a:t>), Spatial imagery, Poetic purpose...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953882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B4CD5-6E10-968D-1FCC-0470D23A2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94B80-08C7-E7BE-7AD7-72D154EBC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ChatGPT Prompt and Method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E107D-197B-F160-912F-59C196555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Custom </a:t>
            </a:r>
            <a:r>
              <a:rPr lang="en-US" b="1" dirty="0"/>
              <a:t>prompt</a:t>
            </a:r>
            <a:r>
              <a:rPr lang="en-US" dirty="0"/>
              <a:t> written for ChatGPT</a:t>
            </a:r>
          </a:p>
          <a:p>
            <a:r>
              <a:rPr lang="en-US" dirty="0"/>
              <a:t>The prompt required the model to detect </a:t>
            </a:r>
            <a:r>
              <a:rPr lang="en-US" b="1" dirty="0"/>
              <a:t>all possible rhetorical devices.</a:t>
            </a:r>
          </a:p>
          <a:p>
            <a:r>
              <a:rPr lang="en-US" dirty="0"/>
              <a:t>The analysis was run in </a:t>
            </a:r>
            <a:r>
              <a:rPr lang="en-US" b="1" dirty="0"/>
              <a:t>three modes:</a:t>
            </a:r>
            <a:endParaRPr lang="en-IL" b="1" dirty="0"/>
          </a:p>
          <a:p>
            <a:pPr marL="800100" lvl="1" indent="-342900">
              <a:buAutoNum type="arabicPeriod"/>
            </a:pPr>
            <a:r>
              <a:rPr lang="en-US" dirty="0"/>
              <a:t>Verse-by-verse analysis</a:t>
            </a:r>
          </a:p>
          <a:p>
            <a:pPr marL="800100" lvl="1" indent="-342900">
              <a:buAutoNum type="arabicPeriod"/>
            </a:pPr>
            <a:r>
              <a:rPr lang="en-US" dirty="0"/>
              <a:t>10 verses at a </a:t>
            </a:r>
            <a:r>
              <a:rPr lang="en-US" dirty="0" err="1"/>
              <a:t>timeFull</a:t>
            </a:r>
            <a:r>
              <a:rPr lang="en-US" dirty="0"/>
              <a:t>-poem input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83393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63731-C679-9381-F1FD-8D6F9F0AC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DF086-B722-4093-BEB1-72BBD0622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(Verse No. 41)</a:t>
            </a:r>
            <a:endParaRPr lang="en-IL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BDF9B52-7B73-C14B-44D6-C3E24377F38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39690" y="2016125"/>
          <a:ext cx="8626945" cy="3449638"/>
        </p:xfrm>
        <a:graphic>
          <a:graphicData uri="http://schemas.openxmlformats.org/drawingml/2006/table">
            <a:tbl>
              <a:tblPr/>
              <a:tblGrid>
                <a:gridCol w="1725389">
                  <a:extLst>
                    <a:ext uri="{9D8B030D-6E8A-4147-A177-3AD203B41FA5}">
                      <a16:colId xmlns:a16="http://schemas.microsoft.com/office/drawing/2014/main" val="1050749216"/>
                    </a:ext>
                  </a:extLst>
                </a:gridCol>
                <a:gridCol w="1725389">
                  <a:extLst>
                    <a:ext uri="{9D8B030D-6E8A-4147-A177-3AD203B41FA5}">
                      <a16:colId xmlns:a16="http://schemas.microsoft.com/office/drawing/2014/main" val="3499095522"/>
                    </a:ext>
                  </a:extLst>
                </a:gridCol>
                <a:gridCol w="1725389">
                  <a:extLst>
                    <a:ext uri="{9D8B030D-6E8A-4147-A177-3AD203B41FA5}">
                      <a16:colId xmlns:a16="http://schemas.microsoft.com/office/drawing/2014/main" val="2208255244"/>
                    </a:ext>
                  </a:extLst>
                </a:gridCol>
                <a:gridCol w="1725389">
                  <a:extLst>
                    <a:ext uri="{9D8B030D-6E8A-4147-A177-3AD203B41FA5}">
                      <a16:colId xmlns:a16="http://schemas.microsoft.com/office/drawing/2014/main" val="1673643872"/>
                    </a:ext>
                  </a:extLst>
                </a:gridCol>
                <a:gridCol w="1725389">
                  <a:extLst>
                    <a:ext uri="{9D8B030D-6E8A-4147-A177-3AD203B41FA5}">
                      <a16:colId xmlns:a16="http://schemas.microsoft.com/office/drawing/2014/main" val="1940301270"/>
                    </a:ext>
                  </a:extLst>
                </a:gridCol>
              </a:tblGrid>
              <a:tr h="328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Verse No.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Verse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Expression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Rhetorical Device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Explanation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608741"/>
                  </a:ext>
                </a:extLst>
              </a:tr>
              <a:tr h="1806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41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SA" sz="1600"/>
                        <a:t>تَسَلَّتْ عَمَايَاتُ الرِّجَالِ عَنِ الصِّبَا وَلَيْسَ فُؤَادِي عَنْ هَوَاكِ بِمُنْسَلِي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SA" sz="1600" b="1"/>
                        <a:t>تسلت عمايات الرجال عن الصبا</a:t>
                      </a:r>
                      <a:endParaRPr lang="ar-SA" sz="1600"/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Metonymy (Kināyah)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Indicates that men have matured and abandoned youthful folly, while the poet remains faithful to love.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546270"/>
                  </a:ext>
                </a:extLst>
              </a:tr>
              <a:tr h="131414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L" sz="1600"/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L" sz="1600"/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SA" sz="1600" b="1"/>
                        <a:t>وليس فؤادي عن هواك بمنسل</a:t>
                      </a:r>
                      <a:endParaRPr lang="ar-SA" sz="1600"/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Metaphor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Compares the heart to something inseparably bound to the beloved.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037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3702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3E353-792F-E5B6-3B7C-ABCAD940A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68684-842F-A68C-A575-2E10038F0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vs. Automated Comparison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A02B7-CEAA-A4C1-2B72-FA9798CCF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Each rhetorical element (e.g., simile, metaphor, etc.) treated as a class label.</a:t>
            </a:r>
          </a:p>
          <a:p>
            <a:r>
              <a:rPr lang="en-US" dirty="0"/>
              <a:t>For each element, the following were calculated:</a:t>
            </a:r>
          </a:p>
          <a:p>
            <a:r>
              <a:rPr lang="en-US" dirty="0"/>
              <a:t>True Positive (TP): detected by both manual and AI analysis</a:t>
            </a:r>
          </a:p>
          <a:p>
            <a:r>
              <a:rPr lang="en-US" dirty="0"/>
              <a:t>False Positive (FP): detected by AI only</a:t>
            </a:r>
          </a:p>
          <a:p>
            <a:r>
              <a:rPr lang="en-US" dirty="0"/>
              <a:t>False Negative (FN): missed by AI</a:t>
            </a:r>
          </a:p>
          <a:p>
            <a:r>
              <a:rPr lang="en-US" dirty="0"/>
              <a:t>Then computed:</a:t>
            </a:r>
          </a:p>
          <a:p>
            <a:pPr lvl="1"/>
            <a:r>
              <a:rPr lang="en-US" dirty="0"/>
              <a:t>Precision (accuracy of detected elements)</a:t>
            </a:r>
          </a:p>
          <a:p>
            <a:pPr lvl="1"/>
            <a:r>
              <a:rPr lang="en-US" dirty="0"/>
              <a:t>Recall (coverage of true elements)</a:t>
            </a:r>
          </a:p>
          <a:p>
            <a:pPr lvl="1"/>
            <a:r>
              <a:rPr lang="en-US" dirty="0"/>
              <a:t>F1 Score (balanced performance metric)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006766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D699D-ECEC-386D-420C-EE0CCB1AB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7ADA1-F8B8-C34F-4A13-097BF0FF8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Quantitative Results by Rhetorical Element</a:t>
            </a:r>
            <a:endParaRPr lang="en-IL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EC7540-BAEA-5833-B918-C01B18C4898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50974" y="2323624"/>
          <a:ext cx="9604378" cy="2834640"/>
        </p:xfrm>
        <a:graphic>
          <a:graphicData uri="http://schemas.openxmlformats.org/drawingml/2006/table">
            <a:tbl>
              <a:tblPr/>
              <a:tblGrid>
                <a:gridCol w="1372054">
                  <a:extLst>
                    <a:ext uri="{9D8B030D-6E8A-4147-A177-3AD203B41FA5}">
                      <a16:colId xmlns:a16="http://schemas.microsoft.com/office/drawing/2014/main" val="1026273466"/>
                    </a:ext>
                  </a:extLst>
                </a:gridCol>
                <a:gridCol w="1372054">
                  <a:extLst>
                    <a:ext uri="{9D8B030D-6E8A-4147-A177-3AD203B41FA5}">
                      <a16:colId xmlns:a16="http://schemas.microsoft.com/office/drawing/2014/main" val="520779264"/>
                    </a:ext>
                  </a:extLst>
                </a:gridCol>
                <a:gridCol w="1372054">
                  <a:extLst>
                    <a:ext uri="{9D8B030D-6E8A-4147-A177-3AD203B41FA5}">
                      <a16:colId xmlns:a16="http://schemas.microsoft.com/office/drawing/2014/main" val="422421704"/>
                    </a:ext>
                  </a:extLst>
                </a:gridCol>
                <a:gridCol w="1372054">
                  <a:extLst>
                    <a:ext uri="{9D8B030D-6E8A-4147-A177-3AD203B41FA5}">
                      <a16:colId xmlns:a16="http://schemas.microsoft.com/office/drawing/2014/main" val="4136412219"/>
                    </a:ext>
                  </a:extLst>
                </a:gridCol>
                <a:gridCol w="1372054">
                  <a:extLst>
                    <a:ext uri="{9D8B030D-6E8A-4147-A177-3AD203B41FA5}">
                      <a16:colId xmlns:a16="http://schemas.microsoft.com/office/drawing/2014/main" val="3711499090"/>
                    </a:ext>
                  </a:extLst>
                </a:gridCol>
                <a:gridCol w="1372054">
                  <a:extLst>
                    <a:ext uri="{9D8B030D-6E8A-4147-A177-3AD203B41FA5}">
                      <a16:colId xmlns:a16="http://schemas.microsoft.com/office/drawing/2014/main" val="3227918398"/>
                    </a:ext>
                  </a:extLst>
                </a:gridCol>
                <a:gridCol w="1372054">
                  <a:extLst>
                    <a:ext uri="{9D8B030D-6E8A-4147-A177-3AD203B41FA5}">
                      <a16:colId xmlns:a16="http://schemas.microsoft.com/office/drawing/2014/main" val="2061514230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Rhetorical Device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19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Simile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0.97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0.92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 dirty="0"/>
                        <a:t>0.94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7115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Metaphor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0.75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0.97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0.84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49601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Metonymy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0.68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0.95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0.79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47367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Antithesis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0.90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0.96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0.93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57598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Paronomasia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0.84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1.00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0.91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6337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Hyperbole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 dirty="0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1.00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1.00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 dirty="0"/>
                        <a:t>1.00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5534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4203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44BCA-438D-8F56-FB6A-9ED2A4F9C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14928-AA95-708B-4EB6-E93EEE651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Performance Indicators</a:t>
            </a:r>
            <a:endParaRPr lang="en-IL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8D7D91C-39CF-7CD9-D8C7-34F422AF769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50975" y="2460784"/>
          <a:ext cx="9604374" cy="2560320"/>
        </p:xfrm>
        <a:graphic>
          <a:graphicData uri="http://schemas.openxmlformats.org/drawingml/2006/table">
            <a:tbl>
              <a:tblPr/>
              <a:tblGrid>
                <a:gridCol w="4802187">
                  <a:extLst>
                    <a:ext uri="{9D8B030D-6E8A-4147-A177-3AD203B41FA5}">
                      <a16:colId xmlns:a16="http://schemas.microsoft.com/office/drawing/2014/main" val="81599766"/>
                    </a:ext>
                  </a:extLst>
                </a:gridCol>
                <a:gridCol w="4802187">
                  <a:extLst>
                    <a:ext uri="{9D8B030D-6E8A-4147-A177-3AD203B41FA5}">
                      <a16:colId xmlns:a16="http://schemas.microsoft.com/office/drawing/2014/main" val="167204274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7149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Macro 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0.42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0749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Macro 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0.63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021119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Macro F1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0.50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28129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Micro 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0.50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13861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Micro 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0.68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785207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Micro F1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 dirty="0"/>
                        <a:t>0.57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4103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0286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1ACD5-FFBD-BF01-B3BA-38F64F6C9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9CAA6-8753-10A7-32F5-243C79EE1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Observations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5BD09-893B-BFE9-1D73-A18DA5550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800" dirty="0"/>
              <a:t>ChatGPT performed strongly in identifying core rhetorical devices.</a:t>
            </a:r>
          </a:p>
          <a:p>
            <a:r>
              <a:rPr lang="en-US" sz="2800" dirty="0"/>
              <a:t>Weaknesses appear in rare or context-dependent devices.</a:t>
            </a:r>
          </a:p>
          <a:p>
            <a:r>
              <a:rPr lang="en-US" sz="2800" dirty="0"/>
              <a:t>Some false positives occurred due to interpretive overreach.</a:t>
            </a:r>
          </a:p>
          <a:p>
            <a:r>
              <a:rPr lang="en-US" sz="2800" dirty="0"/>
              <a:t>Indicates AI’s potential for assisting in Arabic rhetorical analysis.</a:t>
            </a:r>
          </a:p>
          <a:p>
            <a:r>
              <a:rPr lang="en-US" sz="2800" dirty="0"/>
              <a:t>Future systems can improve with training on specialized rhetoric corpora.</a:t>
            </a:r>
            <a:endParaRPr lang="en-IL" sz="2800" dirty="0"/>
          </a:p>
        </p:txBody>
      </p:sp>
    </p:spTree>
    <p:extLst>
      <p:ext uri="{BB962C8B-B14F-4D97-AF65-F5344CB8AC3E}">
        <p14:creationId xmlns:p14="http://schemas.microsoft.com/office/powerpoint/2010/main" val="1353901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B0FA9-2573-A6FD-8F1E-9A399A3D0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63AD4-BCEE-2C9D-0B94-4382C4578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and Insights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9BFA3-AE04-EE53-023F-43D150368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Automated rhetorical analysis achieved moderate accuracy (F1 ≈ 0.57).</a:t>
            </a:r>
          </a:p>
          <a:p>
            <a:r>
              <a:rPr lang="en-US" sz="3200" dirty="0"/>
              <a:t>Strong in structural imagery (simile, metaphor).</a:t>
            </a:r>
          </a:p>
          <a:p>
            <a:r>
              <a:rPr lang="en-US" sz="3200" dirty="0"/>
              <a:t>All Results can be found on the </a:t>
            </a:r>
            <a:r>
              <a:rPr lang="en-US" sz="3200" dirty="0">
                <a:hlinkClick r:id="rId2"/>
              </a:rPr>
              <a:t>link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64191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C5354-5EB0-05A0-4F27-F5004BD73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forward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FD8D8-1D0E-7FC1-A793-7D30FA910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After the meeting on </a:t>
            </a:r>
            <a:r>
              <a:rPr lang="en-US" b="1" dirty="0"/>
              <a:t>24 November 2025</a:t>
            </a:r>
            <a:r>
              <a:rPr lang="en-US" dirty="0"/>
              <a:t>, I refined the workflow for automated rhetorical-element comparison.</a:t>
            </a:r>
            <a:br>
              <a:rPr lang="en-US" dirty="0"/>
            </a:br>
            <a:r>
              <a:rPr lang="en-US" dirty="0"/>
              <a:t>The goal was to prepare a prompt that includes </a:t>
            </a:r>
            <a:r>
              <a:rPr lang="en-US" b="1" dirty="0"/>
              <a:t>all possible rhetorical elements</a:t>
            </a:r>
            <a:r>
              <a:rPr lang="en-US" dirty="0"/>
              <a:t> with examples from </a:t>
            </a:r>
            <a:r>
              <a:rPr lang="en-US" i="1" dirty="0" err="1"/>
              <a:t>Imru</a:t>
            </a:r>
            <a:r>
              <a:rPr lang="en-US" i="1" dirty="0"/>
              <a:t>’ al-Qays (Poem no. 1)</a:t>
            </a:r>
            <a:r>
              <a:rPr lang="en-US" dirty="0"/>
              <a:t>, and then run the analysis </a:t>
            </a:r>
            <a:r>
              <a:rPr lang="en-US" b="1" dirty="0"/>
              <a:t>one verse per message</a:t>
            </a:r>
            <a:r>
              <a:rPr lang="en-US" dirty="0"/>
              <a:t>, for </a:t>
            </a:r>
            <a:r>
              <a:rPr lang="en-US" b="1" dirty="0"/>
              <a:t>five classical Arabic poets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64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A2081-88B3-EB01-060E-313DF6650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forward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7B3CD-E183-7079-FAF9-80D097E71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Below is the final list of poets, </a:t>
            </a:r>
            <a:r>
              <a:rPr lang="en-US" b="1" dirty="0"/>
              <a:t>sorted from the earliest to the latest</a:t>
            </a:r>
            <a:r>
              <a:rPr lang="en-US" dirty="0"/>
              <a:t>, with the </a:t>
            </a:r>
            <a:r>
              <a:rPr lang="en-US" b="1" dirty="0"/>
              <a:t>death year</a:t>
            </a:r>
            <a:r>
              <a:rPr lang="en-US" dirty="0"/>
              <a:t> and </a:t>
            </a:r>
            <a:r>
              <a:rPr lang="en-US" b="1" dirty="0"/>
              <a:t>poem date/period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Imru</a:t>
            </a:r>
            <a:r>
              <a:rPr lang="en-US" dirty="0"/>
              <a:t>’ al-Qays | Died ~540 CE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Al-</a:t>
            </a:r>
            <a:r>
              <a:rPr lang="en-US" dirty="0" err="1"/>
              <a:t>Nabigha</a:t>
            </a:r>
            <a:r>
              <a:rPr lang="en-US" dirty="0"/>
              <a:t> al-</a:t>
            </a:r>
            <a:r>
              <a:rPr lang="en-US" dirty="0" err="1"/>
              <a:t>Dhubyani</a:t>
            </a:r>
            <a:r>
              <a:rPr lang="en-US" dirty="0"/>
              <a:t> | Died ~604 CE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Jarir | Died 728 CE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Abu </a:t>
            </a:r>
            <a:r>
              <a:rPr lang="en-US" dirty="0" err="1"/>
              <a:t>Tammam</a:t>
            </a:r>
            <a:r>
              <a:rPr lang="en-US" dirty="0"/>
              <a:t> | Died 846 CE 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072461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7CD80-E3FF-AC6F-D7E5-66A6205A9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results - </a:t>
            </a:r>
            <a:r>
              <a:rPr lang="en-US" dirty="0" err="1"/>
              <a:t>Imru</a:t>
            </a:r>
            <a:r>
              <a:rPr lang="en-US" dirty="0"/>
              <a:t>’ al-Qays no.1</a:t>
            </a:r>
            <a:endParaRPr lang="he-IL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7C38958-1131-A114-0CE5-CC13FF15F51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10136" y="1976374"/>
          <a:ext cx="8788010" cy="4168279"/>
        </p:xfrm>
        <a:graphic>
          <a:graphicData uri="http://schemas.openxmlformats.org/drawingml/2006/table">
            <a:tbl>
              <a:tblPr/>
              <a:tblGrid>
                <a:gridCol w="1255430">
                  <a:extLst>
                    <a:ext uri="{9D8B030D-6E8A-4147-A177-3AD203B41FA5}">
                      <a16:colId xmlns:a16="http://schemas.microsoft.com/office/drawing/2014/main" val="1474714704"/>
                    </a:ext>
                  </a:extLst>
                </a:gridCol>
                <a:gridCol w="1255430">
                  <a:extLst>
                    <a:ext uri="{9D8B030D-6E8A-4147-A177-3AD203B41FA5}">
                      <a16:colId xmlns:a16="http://schemas.microsoft.com/office/drawing/2014/main" val="2038150857"/>
                    </a:ext>
                  </a:extLst>
                </a:gridCol>
                <a:gridCol w="1255430">
                  <a:extLst>
                    <a:ext uri="{9D8B030D-6E8A-4147-A177-3AD203B41FA5}">
                      <a16:colId xmlns:a16="http://schemas.microsoft.com/office/drawing/2014/main" val="3751785470"/>
                    </a:ext>
                  </a:extLst>
                </a:gridCol>
                <a:gridCol w="1255430">
                  <a:extLst>
                    <a:ext uri="{9D8B030D-6E8A-4147-A177-3AD203B41FA5}">
                      <a16:colId xmlns:a16="http://schemas.microsoft.com/office/drawing/2014/main" val="279356093"/>
                    </a:ext>
                  </a:extLst>
                </a:gridCol>
                <a:gridCol w="1255430">
                  <a:extLst>
                    <a:ext uri="{9D8B030D-6E8A-4147-A177-3AD203B41FA5}">
                      <a16:colId xmlns:a16="http://schemas.microsoft.com/office/drawing/2014/main" val="2276885532"/>
                    </a:ext>
                  </a:extLst>
                </a:gridCol>
                <a:gridCol w="1255430">
                  <a:extLst>
                    <a:ext uri="{9D8B030D-6E8A-4147-A177-3AD203B41FA5}">
                      <a16:colId xmlns:a16="http://schemas.microsoft.com/office/drawing/2014/main" val="1340772498"/>
                    </a:ext>
                  </a:extLst>
                </a:gridCol>
                <a:gridCol w="1255430">
                  <a:extLst>
                    <a:ext uri="{9D8B030D-6E8A-4147-A177-3AD203B41FA5}">
                      <a16:colId xmlns:a16="http://schemas.microsoft.com/office/drawing/2014/main" val="3089895180"/>
                    </a:ext>
                  </a:extLst>
                </a:gridCol>
              </a:tblGrid>
              <a:tr h="140188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العنصر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TP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FP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FN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Precision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Recall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F1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4323673"/>
                  </a:ext>
                </a:extLst>
              </a:tr>
              <a:tr h="140188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كناية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53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0.755102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0.411111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0.532374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567961"/>
                  </a:ext>
                </a:extLst>
              </a:tr>
              <a:tr h="140188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توزيع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2973497"/>
                  </a:ext>
                </a:extLst>
              </a:tr>
              <a:tr h="140188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طباق إيجاب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0.086957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0.148148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300677"/>
                  </a:ext>
                </a:extLst>
              </a:tr>
              <a:tr h="140188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مجاز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0.877551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0.488636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0.627737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056849"/>
                  </a:ext>
                </a:extLst>
              </a:tr>
              <a:tr h="140188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تشبيه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0.853659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0.813953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0.833333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3248356"/>
                  </a:ext>
                </a:extLst>
              </a:tr>
              <a:tr h="191051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تكرار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0.75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0.272727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0246580"/>
                  </a:ext>
                </a:extLst>
              </a:tr>
              <a:tr h="140188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مبالغة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0.318182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0.538462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070050"/>
                  </a:ext>
                </a:extLst>
              </a:tr>
              <a:tr h="140188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التفات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0.25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0.222222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513869"/>
                  </a:ext>
                </a:extLst>
              </a:tr>
              <a:tr h="269362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جناس الاشتقاق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0.166667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3298428"/>
                  </a:ext>
                </a:extLst>
              </a:tr>
              <a:tr h="140188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المراجعة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0.333333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2272544"/>
                  </a:ext>
                </a:extLst>
              </a:tr>
              <a:tr h="269362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جناس التصريف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716228"/>
                  </a:ext>
                </a:extLst>
              </a:tr>
              <a:tr h="269362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الجناس المطلق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950217"/>
                  </a:ext>
                </a:extLst>
              </a:tr>
              <a:tr h="269362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رد الأعجاز على الصدور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868847"/>
                  </a:ext>
                </a:extLst>
              </a:tr>
              <a:tr h="269362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تضمين (جريان)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0.333333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837080"/>
                  </a:ext>
                </a:extLst>
              </a:tr>
              <a:tr h="140188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طباق سلب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6806928"/>
                  </a:ext>
                </a:extLst>
              </a:tr>
              <a:tr h="140188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رد الأعجاز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6730096"/>
                  </a:ext>
                </a:extLst>
              </a:tr>
              <a:tr h="140188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الرجوع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274885"/>
                  </a:ext>
                </a:extLst>
              </a:tr>
              <a:tr h="140188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تجريد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039676"/>
                  </a:ext>
                </a:extLst>
              </a:tr>
              <a:tr h="140188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التقسيم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07" marR="5007" marT="500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6065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3294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0C1F4-B0C5-A985-8282-0B76B4090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2DA39-7F4A-4E99-DE4F-ABCA5B51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results - </a:t>
            </a:r>
            <a:r>
              <a:rPr lang="en-US" dirty="0" err="1"/>
              <a:t>Imru</a:t>
            </a:r>
            <a:r>
              <a:rPr lang="en-US" dirty="0"/>
              <a:t>’ al-Qays no.8</a:t>
            </a:r>
            <a:endParaRPr lang="he-IL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1FC902E-9A66-D14D-D684-26855499F92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521674" y="2006452"/>
          <a:ext cx="9533181" cy="3449644"/>
        </p:xfrm>
        <a:graphic>
          <a:graphicData uri="http://schemas.openxmlformats.org/drawingml/2006/table">
            <a:tbl>
              <a:tblPr/>
              <a:tblGrid>
                <a:gridCol w="1361883">
                  <a:extLst>
                    <a:ext uri="{9D8B030D-6E8A-4147-A177-3AD203B41FA5}">
                      <a16:colId xmlns:a16="http://schemas.microsoft.com/office/drawing/2014/main" val="3385794683"/>
                    </a:ext>
                  </a:extLst>
                </a:gridCol>
                <a:gridCol w="1361883">
                  <a:extLst>
                    <a:ext uri="{9D8B030D-6E8A-4147-A177-3AD203B41FA5}">
                      <a16:colId xmlns:a16="http://schemas.microsoft.com/office/drawing/2014/main" val="1970480220"/>
                    </a:ext>
                  </a:extLst>
                </a:gridCol>
                <a:gridCol w="1361883">
                  <a:extLst>
                    <a:ext uri="{9D8B030D-6E8A-4147-A177-3AD203B41FA5}">
                      <a16:colId xmlns:a16="http://schemas.microsoft.com/office/drawing/2014/main" val="2019910080"/>
                    </a:ext>
                  </a:extLst>
                </a:gridCol>
                <a:gridCol w="1361883">
                  <a:extLst>
                    <a:ext uri="{9D8B030D-6E8A-4147-A177-3AD203B41FA5}">
                      <a16:colId xmlns:a16="http://schemas.microsoft.com/office/drawing/2014/main" val="1127540457"/>
                    </a:ext>
                  </a:extLst>
                </a:gridCol>
                <a:gridCol w="1361883">
                  <a:extLst>
                    <a:ext uri="{9D8B030D-6E8A-4147-A177-3AD203B41FA5}">
                      <a16:colId xmlns:a16="http://schemas.microsoft.com/office/drawing/2014/main" val="2026227709"/>
                    </a:ext>
                  </a:extLst>
                </a:gridCol>
                <a:gridCol w="1361883">
                  <a:extLst>
                    <a:ext uri="{9D8B030D-6E8A-4147-A177-3AD203B41FA5}">
                      <a16:colId xmlns:a16="http://schemas.microsoft.com/office/drawing/2014/main" val="3455657511"/>
                    </a:ext>
                  </a:extLst>
                </a:gridCol>
                <a:gridCol w="1361883">
                  <a:extLst>
                    <a:ext uri="{9D8B030D-6E8A-4147-A177-3AD203B41FA5}">
                      <a16:colId xmlns:a16="http://schemas.microsoft.com/office/drawing/2014/main" val="1680734513"/>
                    </a:ext>
                  </a:extLst>
                </a:gridCol>
              </a:tblGrid>
              <a:tr h="175236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العنصر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Precision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Recall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F1 Score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TP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FP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FN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5400219"/>
                  </a:ext>
                </a:extLst>
              </a:tr>
              <a:tr h="175236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مجاز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0.375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0.666667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0.48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435177"/>
                  </a:ext>
                </a:extLst>
              </a:tr>
              <a:tr h="175236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تشبيه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0.75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0255020"/>
                  </a:ext>
                </a:extLst>
              </a:tr>
              <a:tr h="175236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كناية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0.333333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0.555556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0.416667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2795"/>
                  </a:ext>
                </a:extLst>
              </a:tr>
              <a:tr h="336703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جناس التصريف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857377"/>
                  </a:ext>
                </a:extLst>
              </a:tr>
              <a:tr h="175236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مقابلة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8240233"/>
                  </a:ext>
                </a:extLst>
              </a:tr>
              <a:tr h="336703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جناس التصحيف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3697459"/>
                  </a:ext>
                </a:extLst>
              </a:tr>
              <a:tr h="175236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توزيع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577113"/>
                  </a:ext>
                </a:extLst>
              </a:tr>
              <a:tr h="175236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طباق إيجاب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427902"/>
                  </a:ext>
                </a:extLst>
              </a:tr>
              <a:tr h="175236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توشيع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2653139"/>
                  </a:ext>
                </a:extLst>
              </a:tr>
              <a:tr h="336703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جناس الاشتقاق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807555"/>
                  </a:ext>
                </a:extLst>
              </a:tr>
              <a:tr h="175236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تكرار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33121"/>
                  </a:ext>
                </a:extLst>
              </a:tr>
              <a:tr h="175236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تجريد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3876713"/>
                  </a:ext>
                </a:extLst>
              </a:tr>
              <a:tr h="175236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مبالغة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833502"/>
                  </a:ext>
                </a:extLst>
              </a:tr>
              <a:tr h="336703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رد الأعجاز على الصدور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895276"/>
                  </a:ext>
                </a:extLst>
              </a:tr>
              <a:tr h="175236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طباق سلب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6258" marR="6258" marT="6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4676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2522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1C541-9CE8-DCE7-E0BF-CC77375D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02EE9-D875-1F37-1E1E-83D37AE1B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results - Al-</a:t>
            </a:r>
            <a:r>
              <a:rPr lang="en-US" dirty="0" err="1"/>
              <a:t>Nabigha</a:t>
            </a:r>
            <a:r>
              <a:rPr lang="en-US" dirty="0"/>
              <a:t> al-</a:t>
            </a:r>
            <a:r>
              <a:rPr lang="en-US" dirty="0" err="1"/>
              <a:t>Dhubyani</a:t>
            </a:r>
            <a:r>
              <a:rPr lang="en-US" dirty="0"/>
              <a:t> </a:t>
            </a:r>
            <a:endParaRPr lang="he-IL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C44C8A4-9006-0904-04E9-1F730F122E6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51579" y="2006900"/>
          <a:ext cx="9603272" cy="3449638"/>
        </p:xfrm>
        <a:graphic>
          <a:graphicData uri="http://schemas.openxmlformats.org/drawingml/2006/table">
            <a:tbl>
              <a:tblPr/>
              <a:tblGrid>
                <a:gridCol w="1371896">
                  <a:extLst>
                    <a:ext uri="{9D8B030D-6E8A-4147-A177-3AD203B41FA5}">
                      <a16:colId xmlns:a16="http://schemas.microsoft.com/office/drawing/2014/main" val="762794551"/>
                    </a:ext>
                  </a:extLst>
                </a:gridCol>
                <a:gridCol w="1371896">
                  <a:extLst>
                    <a:ext uri="{9D8B030D-6E8A-4147-A177-3AD203B41FA5}">
                      <a16:colId xmlns:a16="http://schemas.microsoft.com/office/drawing/2014/main" val="307379839"/>
                    </a:ext>
                  </a:extLst>
                </a:gridCol>
                <a:gridCol w="1371896">
                  <a:extLst>
                    <a:ext uri="{9D8B030D-6E8A-4147-A177-3AD203B41FA5}">
                      <a16:colId xmlns:a16="http://schemas.microsoft.com/office/drawing/2014/main" val="3689179294"/>
                    </a:ext>
                  </a:extLst>
                </a:gridCol>
                <a:gridCol w="1371896">
                  <a:extLst>
                    <a:ext uri="{9D8B030D-6E8A-4147-A177-3AD203B41FA5}">
                      <a16:colId xmlns:a16="http://schemas.microsoft.com/office/drawing/2014/main" val="3431804106"/>
                    </a:ext>
                  </a:extLst>
                </a:gridCol>
                <a:gridCol w="1371896">
                  <a:extLst>
                    <a:ext uri="{9D8B030D-6E8A-4147-A177-3AD203B41FA5}">
                      <a16:colId xmlns:a16="http://schemas.microsoft.com/office/drawing/2014/main" val="1259573501"/>
                    </a:ext>
                  </a:extLst>
                </a:gridCol>
                <a:gridCol w="1371896">
                  <a:extLst>
                    <a:ext uri="{9D8B030D-6E8A-4147-A177-3AD203B41FA5}">
                      <a16:colId xmlns:a16="http://schemas.microsoft.com/office/drawing/2014/main" val="3452259390"/>
                    </a:ext>
                  </a:extLst>
                </a:gridCol>
                <a:gridCol w="1371896">
                  <a:extLst>
                    <a:ext uri="{9D8B030D-6E8A-4147-A177-3AD203B41FA5}">
                      <a16:colId xmlns:a16="http://schemas.microsoft.com/office/drawing/2014/main" val="4118480072"/>
                    </a:ext>
                  </a:extLst>
                </a:gridCol>
              </a:tblGrid>
              <a:tr h="1745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Element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TP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FP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FN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Precision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Recall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F1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293269"/>
                  </a:ext>
                </a:extLst>
              </a:tr>
              <a:tr h="174539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ar-S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كناية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6234" marR="6234" marT="62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0.75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0.882353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0.810811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086836"/>
                  </a:ext>
                </a:extLst>
              </a:tr>
              <a:tr h="174539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ar-S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مبالغة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0.375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0.545455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278085"/>
                  </a:ext>
                </a:extLst>
              </a:tr>
              <a:tr h="174539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ar-S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مجاز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0.777778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0.4375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0.56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699563"/>
                  </a:ext>
                </a:extLst>
              </a:tr>
              <a:tr h="174539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ar-S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طباق سلب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0.222222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0.666667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0.333333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3919929"/>
                  </a:ext>
                </a:extLst>
              </a:tr>
              <a:tr h="174539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ar-S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تشبيه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0.8125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0.896552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9760912"/>
                  </a:ext>
                </a:extLst>
              </a:tr>
              <a:tr h="174539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ar-S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تكرار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0.75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0.857143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218230"/>
                  </a:ext>
                </a:extLst>
              </a:tr>
              <a:tr h="174539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ar-S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تجريد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66962"/>
                  </a:ext>
                </a:extLst>
              </a:tr>
              <a:tr h="335364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ar-S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الجناس المقلوب 1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3935278"/>
                  </a:ext>
                </a:extLst>
              </a:tr>
              <a:tr h="174539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ar-S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مقابلة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449798"/>
                  </a:ext>
                </a:extLst>
              </a:tr>
              <a:tr h="335364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ar-S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جناس الاشتقاق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7806433"/>
                  </a:ext>
                </a:extLst>
              </a:tr>
              <a:tr h="335364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ar-S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تضمين (جريان)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191724"/>
                  </a:ext>
                </a:extLst>
              </a:tr>
              <a:tr h="174539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ar-S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المراجعة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974545"/>
                  </a:ext>
                </a:extLst>
              </a:tr>
              <a:tr h="174539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ar-S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التهكم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1905877"/>
                  </a:ext>
                </a:extLst>
              </a:tr>
              <a:tr h="174539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ar-S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التفات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942340"/>
                  </a:ext>
                </a:extLst>
              </a:tr>
              <a:tr h="174539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ar-S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طباق إيجاب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0.333333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648251"/>
                  </a:ext>
                </a:extLst>
              </a:tr>
              <a:tr h="174539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ar-S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الرجوع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234" marR="6234" marT="62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8522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439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AB5F6-2261-37AA-CDDC-21E68FFC0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37A94-D279-E7D0-78E4-59A18185F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results - Jarir</a:t>
            </a:r>
            <a:endParaRPr lang="he-IL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BA0BD08-042A-7823-3ACA-6C6897017F9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51580" y="2016126"/>
          <a:ext cx="9603272" cy="3449636"/>
        </p:xfrm>
        <a:graphic>
          <a:graphicData uri="http://schemas.openxmlformats.org/drawingml/2006/table">
            <a:tbl>
              <a:tblPr/>
              <a:tblGrid>
                <a:gridCol w="1371896">
                  <a:extLst>
                    <a:ext uri="{9D8B030D-6E8A-4147-A177-3AD203B41FA5}">
                      <a16:colId xmlns:a16="http://schemas.microsoft.com/office/drawing/2014/main" val="75001023"/>
                    </a:ext>
                  </a:extLst>
                </a:gridCol>
                <a:gridCol w="1371896">
                  <a:extLst>
                    <a:ext uri="{9D8B030D-6E8A-4147-A177-3AD203B41FA5}">
                      <a16:colId xmlns:a16="http://schemas.microsoft.com/office/drawing/2014/main" val="2221621324"/>
                    </a:ext>
                  </a:extLst>
                </a:gridCol>
                <a:gridCol w="1371896">
                  <a:extLst>
                    <a:ext uri="{9D8B030D-6E8A-4147-A177-3AD203B41FA5}">
                      <a16:colId xmlns:a16="http://schemas.microsoft.com/office/drawing/2014/main" val="1591250319"/>
                    </a:ext>
                  </a:extLst>
                </a:gridCol>
                <a:gridCol w="1371896">
                  <a:extLst>
                    <a:ext uri="{9D8B030D-6E8A-4147-A177-3AD203B41FA5}">
                      <a16:colId xmlns:a16="http://schemas.microsoft.com/office/drawing/2014/main" val="2677898662"/>
                    </a:ext>
                  </a:extLst>
                </a:gridCol>
                <a:gridCol w="1371896">
                  <a:extLst>
                    <a:ext uri="{9D8B030D-6E8A-4147-A177-3AD203B41FA5}">
                      <a16:colId xmlns:a16="http://schemas.microsoft.com/office/drawing/2014/main" val="2640190681"/>
                    </a:ext>
                  </a:extLst>
                </a:gridCol>
                <a:gridCol w="1371896">
                  <a:extLst>
                    <a:ext uri="{9D8B030D-6E8A-4147-A177-3AD203B41FA5}">
                      <a16:colId xmlns:a16="http://schemas.microsoft.com/office/drawing/2014/main" val="1093565856"/>
                    </a:ext>
                  </a:extLst>
                </a:gridCol>
                <a:gridCol w="1371896">
                  <a:extLst>
                    <a:ext uri="{9D8B030D-6E8A-4147-A177-3AD203B41FA5}">
                      <a16:colId xmlns:a16="http://schemas.microsoft.com/office/drawing/2014/main" val="1950043457"/>
                    </a:ext>
                  </a:extLst>
                </a:gridCol>
              </a:tblGrid>
              <a:tr h="16676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Element</a:t>
                      </a:r>
                    </a:p>
                  </a:txBody>
                  <a:tcPr marL="5956" marR="5956" marT="595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TP</a:t>
                      </a:r>
                    </a:p>
                  </a:txBody>
                  <a:tcPr marL="5956" marR="5956" marT="595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FP</a:t>
                      </a:r>
                    </a:p>
                  </a:txBody>
                  <a:tcPr marL="5956" marR="5956" marT="595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FN</a:t>
                      </a:r>
                    </a:p>
                  </a:txBody>
                  <a:tcPr marL="5956" marR="5956" marT="595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Precision</a:t>
                      </a:r>
                    </a:p>
                  </a:txBody>
                  <a:tcPr marL="5956" marR="5956" marT="595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Recall</a:t>
                      </a:r>
                    </a:p>
                  </a:txBody>
                  <a:tcPr marL="5956" marR="5956" marT="595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F1</a:t>
                      </a:r>
                    </a:p>
                  </a:txBody>
                  <a:tcPr marL="5956" marR="5956" marT="595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3667031"/>
                  </a:ext>
                </a:extLst>
              </a:tr>
              <a:tr h="166764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ar-SA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تكرار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0.375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0.428571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445447"/>
                  </a:ext>
                </a:extLst>
              </a:tr>
              <a:tr h="166764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ar-SA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طباق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5956" marR="5956" marT="595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0.642857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0.5625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1452310"/>
                  </a:ext>
                </a:extLst>
              </a:tr>
              <a:tr h="166764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ar-SA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تجريد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718517"/>
                  </a:ext>
                </a:extLst>
              </a:tr>
              <a:tr h="166764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ar-SA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التفات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3513275"/>
                  </a:ext>
                </a:extLst>
              </a:tr>
              <a:tr h="166764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ar-SA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توزيع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0.666667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276441"/>
                  </a:ext>
                </a:extLst>
              </a:tr>
              <a:tr h="166764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ar-SA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عكس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0650018"/>
                  </a:ext>
                </a:extLst>
              </a:tr>
              <a:tr h="166764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ar-SA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كناية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0.619048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0.393939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0.481481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4533560"/>
                  </a:ext>
                </a:extLst>
              </a:tr>
              <a:tr h="320426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ar-SA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جناس التصريف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4913778"/>
                  </a:ext>
                </a:extLst>
              </a:tr>
              <a:tr h="166764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ar-SA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مقابلة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0.235294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0.363636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471035"/>
                  </a:ext>
                </a:extLst>
              </a:tr>
              <a:tr h="166764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ar-SA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مبالغة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5790661"/>
                  </a:ext>
                </a:extLst>
              </a:tr>
              <a:tr h="166764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ar-SA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توشيع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0103259"/>
                  </a:ext>
                </a:extLst>
              </a:tr>
              <a:tr h="320426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ar-SA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جناس الاشتقاق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046895"/>
                  </a:ext>
                </a:extLst>
              </a:tr>
              <a:tr h="320426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ar-SA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رد الأعجاز على الصدور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857248"/>
                  </a:ext>
                </a:extLst>
              </a:tr>
              <a:tr h="166764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ar-SA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مجاز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0.258065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0.340426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5073008"/>
                  </a:ext>
                </a:extLst>
              </a:tr>
              <a:tr h="166764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ar-SA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تشبيه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0.666667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0.571429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635107"/>
                  </a:ext>
                </a:extLst>
              </a:tr>
              <a:tr h="320426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ar-SA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تضمين (جريان)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956" marR="5956" marT="595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6074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3268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4D0EE-82D2-6C47-1BF8-3591E7798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E5332-8784-8108-F005-2BE95E5C4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results - Abu </a:t>
            </a:r>
            <a:r>
              <a:rPr lang="en-US" dirty="0" err="1"/>
              <a:t>Tammam</a:t>
            </a:r>
            <a:r>
              <a:rPr lang="en-US" dirty="0"/>
              <a:t> </a:t>
            </a:r>
            <a:endParaRPr lang="he-IL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72CD8DB-3942-2E22-A472-A8083F81B8F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51578" y="1978726"/>
          <a:ext cx="9603272" cy="3469729"/>
        </p:xfrm>
        <a:graphic>
          <a:graphicData uri="http://schemas.openxmlformats.org/drawingml/2006/table">
            <a:tbl>
              <a:tblPr/>
              <a:tblGrid>
                <a:gridCol w="1371896">
                  <a:extLst>
                    <a:ext uri="{9D8B030D-6E8A-4147-A177-3AD203B41FA5}">
                      <a16:colId xmlns:a16="http://schemas.microsoft.com/office/drawing/2014/main" val="1029328254"/>
                    </a:ext>
                  </a:extLst>
                </a:gridCol>
                <a:gridCol w="1371896">
                  <a:extLst>
                    <a:ext uri="{9D8B030D-6E8A-4147-A177-3AD203B41FA5}">
                      <a16:colId xmlns:a16="http://schemas.microsoft.com/office/drawing/2014/main" val="1679692075"/>
                    </a:ext>
                  </a:extLst>
                </a:gridCol>
                <a:gridCol w="1371896">
                  <a:extLst>
                    <a:ext uri="{9D8B030D-6E8A-4147-A177-3AD203B41FA5}">
                      <a16:colId xmlns:a16="http://schemas.microsoft.com/office/drawing/2014/main" val="3484575824"/>
                    </a:ext>
                  </a:extLst>
                </a:gridCol>
                <a:gridCol w="1371896">
                  <a:extLst>
                    <a:ext uri="{9D8B030D-6E8A-4147-A177-3AD203B41FA5}">
                      <a16:colId xmlns:a16="http://schemas.microsoft.com/office/drawing/2014/main" val="3018081374"/>
                    </a:ext>
                  </a:extLst>
                </a:gridCol>
                <a:gridCol w="1371896">
                  <a:extLst>
                    <a:ext uri="{9D8B030D-6E8A-4147-A177-3AD203B41FA5}">
                      <a16:colId xmlns:a16="http://schemas.microsoft.com/office/drawing/2014/main" val="530992706"/>
                    </a:ext>
                  </a:extLst>
                </a:gridCol>
                <a:gridCol w="1371896">
                  <a:extLst>
                    <a:ext uri="{9D8B030D-6E8A-4147-A177-3AD203B41FA5}">
                      <a16:colId xmlns:a16="http://schemas.microsoft.com/office/drawing/2014/main" val="2500615337"/>
                    </a:ext>
                  </a:extLst>
                </a:gridCol>
                <a:gridCol w="1371896">
                  <a:extLst>
                    <a:ext uri="{9D8B030D-6E8A-4147-A177-3AD203B41FA5}">
                      <a16:colId xmlns:a16="http://schemas.microsoft.com/office/drawing/2014/main" val="507562345"/>
                    </a:ext>
                  </a:extLst>
                </a:gridCol>
              </a:tblGrid>
              <a:tr h="140638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العنصر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TP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FP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FN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Precision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Recall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F1 Score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953560"/>
                  </a:ext>
                </a:extLst>
              </a:tr>
              <a:tr h="140638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مجاز/استعارة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0.8696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0.9091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0.889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9742815"/>
                  </a:ext>
                </a:extLst>
              </a:tr>
              <a:tr h="140638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تشبيه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0.6667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0.5714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1526723"/>
                  </a:ext>
                </a:extLst>
              </a:tr>
              <a:tr h="140638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كناية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0.3529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0.4444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585661"/>
                  </a:ext>
                </a:extLst>
              </a:tr>
              <a:tr h="27022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الجناس المحرّف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874910"/>
                  </a:ext>
                </a:extLst>
              </a:tr>
              <a:tr h="140638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مقابلة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2320328"/>
                  </a:ext>
                </a:extLst>
              </a:tr>
              <a:tr h="27022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جناس التصريف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1393648"/>
                  </a:ext>
                </a:extLst>
              </a:tr>
              <a:tr h="27022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جناس التصحيف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958695"/>
                  </a:ext>
                </a:extLst>
              </a:tr>
              <a:tr h="140638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توزيع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9974972"/>
                  </a:ext>
                </a:extLst>
              </a:tr>
              <a:tr h="140638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طباق إيجاب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0.3077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0.5714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132914"/>
                  </a:ext>
                </a:extLst>
              </a:tr>
              <a:tr h="140638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توشيع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303832"/>
                  </a:ext>
                </a:extLst>
              </a:tr>
              <a:tr h="27022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جناس الاشتقاق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0.75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0.8571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114093"/>
                  </a:ext>
                </a:extLst>
              </a:tr>
              <a:tr h="140638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تكرار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0.6667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0.6667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0.6667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2973700"/>
                  </a:ext>
                </a:extLst>
              </a:tr>
              <a:tr h="140638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ترصيع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001280"/>
                  </a:ext>
                </a:extLst>
              </a:tr>
              <a:tr h="27022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الجناس المطلق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0.6667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0.3333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0.4444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7902687"/>
                  </a:ext>
                </a:extLst>
              </a:tr>
              <a:tr h="27022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رد الأعجاز على الصدور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907717"/>
                  </a:ext>
                </a:extLst>
              </a:tr>
              <a:tr h="140638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مبالغة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622179"/>
                  </a:ext>
                </a:extLst>
              </a:tr>
              <a:tr h="140638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التفات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878274"/>
                  </a:ext>
                </a:extLst>
              </a:tr>
              <a:tr h="140638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ar-SA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التقسيم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23" marR="5023" marT="5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864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903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7A670-FCB0-03FC-ECCB-446D88A88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2A389-DADD-4BD2-B4CE-32A1FB484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the five poems</a:t>
            </a:r>
            <a:endParaRPr lang="he-IL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7B1C3B3-71E8-701F-242F-92E94C0A890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58559" y="2128947"/>
          <a:ext cx="9603276" cy="3552899"/>
        </p:xfrm>
        <a:graphic>
          <a:graphicData uri="http://schemas.openxmlformats.org/drawingml/2006/table">
            <a:tbl>
              <a:tblPr/>
              <a:tblGrid>
                <a:gridCol w="1600546">
                  <a:extLst>
                    <a:ext uri="{9D8B030D-6E8A-4147-A177-3AD203B41FA5}">
                      <a16:colId xmlns:a16="http://schemas.microsoft.com/office/drawing/2014/main" val="196584213"/>
                    </a:ext>
                  </a:extLst>
                </a:gridCol>
                <a:gridCol w="1600546">
                  <a:extLst>
                    <a:ext uri="{9D8B030D-6E8A-4147-A177-3AD203B41FA5}">
                      <a16:colId xmlns:a16="http://schemas.microsoft.com/office/drawing/2014/main" val="1229656110"/>
                    </a:ext>
                  </a:extLst>
                </a:gridCol>
                <a:gridCol w="1600546">
                  <a:extLst>
                    <a:ext uri="{9D8B030D-6E8A-4147-A177-3AD203B41FA5}">
                      <a16:colId xmlns:a16="http://schemas.microsoft.com/office/drawing/2014/main" val="1772759566"/>
                    </a:ext>
                  </a:extLst>
                </a:gridCol>
                <a:gridCol w="1600546">
                  <a:extLst>
                    <a:ext uri="{9D8B030D-6E8A-4147-A177-3AD203B41FA5}">
                      <a16:colId xmlns:a16="http://schemas.microsoft.com/office/drawing/2014/main" val="884833992"/>
                    </a:ext>
                  </a:extLst>
                </a:gridCol>
                <a:gridCol w="1600546">
                  <a:extLst>
                    <a:ext uri="{9D8B030D-6E8A-4147-A177-3AD203B41FA5}">
                      <a16:colId xmlns:a16="http://schemas.microsoft.com/office/drawing/2014/main" val="2052327215"/>
                    </a:ext>
                  </a:extLst>
                </a:gridCol>
                <a:gridCol w="1600546">
                  <a:extLst>
                    <a:ext uri="{9D8B030D-6E8A-4147-A177-3AD203B41FA5}">
                      <a16:colId xmlns:a16="http://schemas.microsoft.com/office/drawing/2014/main" val="1689046899"/>
                    </a:ext>
                  </a:extLst>
                </a:gridCol>
              </a:tblGrid>
              <a:tr h="5075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Metric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dirty="0" err="1"/>
                        <a:t>Imru</a:t>
                      </a:r>
                      <a:r>
                        <a:rPr lang="en-US" sz="1600" dirty="0"/>
                        <a:t>’ al-Qays no.1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Imru</a:t>
                      </a:r>
                      <a:r>
                        <a:rPr lang="en-US" sz="1600" dirty="0"/>
                        <a:t>’ al-Qays no.8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dirty="0"/>
                        <a:t>Al-</a:t>
                      </a:r>
                      <a:r>
                        <a:rPr lang="en-US" sz="1600" dirty="0" err="1"/>
                        <a:t>Nabigha</a:t>
                      </a:r>
                      <a:r>
                        <a:rPr lang="en-US" sz="1600" dirty="0"/>
                        <a:t> al-</a:t>
                      </a:r>
                      <a:r>
                        <a:rPr lang="en-US" sz="1600" dirty="0" err="1"/>
                        <a:t>Dhubyani</a:t>
                      </a:r>
                      <a:r>
                        <a:rPr lang="en-US" sz="1600" dirty="0"/>
                        <a:t>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JARIR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ABU TAMMAM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3746892"/>
                  </a:ext>
                </a:extLst>
              </a:tr>
              <a:tr h="5075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Macro Precision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0.410763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0.120556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0.320313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0.421053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0.2529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241521"/>
                  </a:ext>
                </a:extLst>
              </a:tr>
              <a:tr h="5075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Macro Recall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0.240974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0.181481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0.305147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0.347826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0.2406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68033"/>
                  </a:ext>
                </a:extLst>
              </a:tr>
              <a:tr h="5075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Macro F1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0.280552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0.144874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0.281456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0.380952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0.2373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1658993"/>
                  </a:ext>
                </a:extLst>
              </a:tr>
              <a:tr h="5075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Micro Precision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0.713514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0.25974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0.709677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0.228992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0.3365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954926"/>
                  </a:ext>
                </a:extLst>
              </a:tr>
              <a:tr h="5075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Micro Recall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0.445946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0.555556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0.243094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0.547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579189"/>
                  </a:ext>
                </a:extLst>
              </a:tr>
              <a:tr h="5075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Micro F1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0.548857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0.353982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0.619718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0.215763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e-IL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0.416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69304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217699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60</TotalTime>
  <Words>1414</Words>
  <Application>Microsoft Office PowerPoint</Application>
  <PresentationFormat>Widescreen</PresentationFormat>
  <Paragraphs>800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Gill Sans MT</vt:lpstr>
      <vt:lpstr>Gallery</vt:lpstr>
      <vt:lpstr>Automated Rhetorical Analysis of Imru’ al-Qais’ Poem (No. 1)</vt:lpstr>
      <vt:lpstr>Idea</vt:lpstr>
      <vt:lpstr>The Poem and Manual Analysis</vt:lpstr>
      <vt:lpstr>ChatGPT Prompt and Method</vt:lpstr>
      <vt:lpstr>Example (Verse No. 41)</vt:lpstr>
      <vt:lpstr>Manual vs. Automated Comparison</vt:lpstr>
      <vt:lpstr>Quantitative Results by Rhetorical Element</vt:lpstr>
      <vt:lpstr>Overall Performance Indicators</vt:lpstr>
      <vt:lpstr>Key Observations</vt:lpstr>
      <vt:lpstr>Summary and Insights</vt:lpstr>
      <vt:lpstr>Moving forward</vt:lpstr>
      <vt:lpstr>Moving forward</vt:lpstr>
      <vt:lpstr>New results - Imru’ al-Qays no.1</vt:lpstr>
      <vt:lpstr>New results - Imru’ al-Qays no.8</vt:lpstr>
      <vt:lpstr>New results - Al-Nabigha al-Dhubyani </vt:lpstr>
      <vt:lpstr>New results - Jarir</vt:lpstr>
      <vt:lpstr>New results - Abu Tammam </vt:lpstr>
      <vt:lpstr>Comparing the five poems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פייסל עומרי</dc:creator>
  <cp:lastModifiedBy>faisal omari</cp:lastModifiedBy>
  <cp:revision>7</cp:revision>
  <dcterms:created xsi:type="dcterms:W3CDTF">2025-10-16T06:51:14Z</dcterms:created>
  <dcterms:modified xsi:type="dcterms:W3CDTF">2025-11-25T15:38:14Z</dcterms:modified>
</cp:coreProperties>
</file>